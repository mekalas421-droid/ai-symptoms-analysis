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oncert One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9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5305" y="-770590"/>
            <a:ext cx="23298611" cy="11828180"/>
            <a:chOff x="0" y="0"/>
            <a:chExt cx="31064814" cy="15770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93908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09079" y="206044"/>
            <a:ext cx="14633064" cy="9635735"/>
          </a:xfrm>
          <a:custGeom>
            <a:avLst/>
            <a:gdLst/>
            <a:ahLst/>
            <a:cxnLst/>
            <a:rect r="r" b="b" t="t" l="l"/>
            <a:pathLst>
              <a:path h="9635735" w="14633064">
                <a:moveTo>
                  <a:pt x="0" y="0"/>
                </a:moveTo>
                <a:lnTo>
                  <a:pt x="14633064" y="0"/>
                </a:lnTo>
                <a:lnTo>
                  <a:pt x="14633064" y="9635734"/>
                </a:lnTo>
                <a:lnTo>
                  <a:pt x="0" y="96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81979" y="8505289"/>
            <a:ext cx="1506021" cy="1506021"/>
          </a:xfrm>
          <a:custGeom>
            <a:avLst/>
            <a:gdLst/>
            <a:ahLst/>
            <a:cxnLst/>
            <a:rect r="r" b="b" t="t" l="l"/>
            <a:pathLst>
              <a:path h="1506021" w="1506021">
                <a:moveTo>
                  <a:pt x="0" y="0"/>
                </a:moveTo>
                <a:lnTo>
                  <a:pt x="1506021" y="0"/>
                </a:lnTo>
                <a:lnTo>
                  <a:pt x="1506021" y="1506022"/>
                </a:lnTo>
                <a:lnTo>
                  <a:pt x="0" y="1506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2530299" cy="3007737"/>
          </a:xfrm>
          <a:custGeom>
            <a:avLst/>
            <a:gdLst/>
            <a:ahLst/>
            <a:cxnLst/>
            <a:rect r="r" b="b" t="t" l="l"/>
            <a:pathLst>
              <a:path h="3007737" w="2530299">
                <a:moveTo>
                  <a:pt x="0" y="0"/>
                </a:moveTo>
                <a:lnTo>
                  <a:pt x="2530299" y="0"/>
                </a:lnTo>
                <a:lnTo>
                  <a:pt x="2530299" y="3007737"/>
                </a:lnTo>
                <a:lnTo>
                  <a:pt x="0" y="30077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477452" y="4202430"/>
            <a:ext cx="182880" cy="189548"/>
            <a:chOff x="0" y="0"/>
            <a:chExt cx="243840" cy="2527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7065" y="50800"/>
              <a:ext cx="145975" cy="151938"/>
            </a:xfrm>
            <a:custGeom>
              <a:avLst/>
              <a:gdLst/>
              <a:ahLst/>
              <a:cxnLst/>
              <a:rect r="r" b="b" t="t" l="l"/>
              <a:pathLst>
                <a:path h="151938" w="145975">
                  <a:moveTo>
                    <a:pt x="145975" y="53340"/>
                  </a:moveTo>
                  <a:cubicBezTo>
                    <a:pt x="126925" y="133350"/>
                    <a:pt x="115495" y="139700"/>
                    <a:pt x="105335" y="144780"/>
                  </a:cubicBezTo>
                  <a:cubicBezTo>
                    <a:pt x="93905" y="149860"/>
                    <a:pt x="82475" y="153670"/>
                    <a:pt x="69775" y="151130"/>
                  </a:cubicBezTo>
                  <a:cubicBezTo>
                    <a:pt x="50725" y="148590"/>
                    <a:pt x="18975" y="133350"/>
                    <a:pt x="8815" y="115570"/>
                  </a:cubicBezTo>
                  <a:cubicBezTo>
                    <a:pt x="-2615" y="96520"/>
                    <a:pt x="-1345" y="62230"/>
                    <a:pt x="3735" y="44450"/>
                  </a:cubicBezTo>
                  <a:cubicBezTo>
                    <a:pt x="8815" y="31750"/>
                    <a:pt x="17705" y="22860"/>
                    <a:pt x="26595" y="15240"/>
                  </a:cubicBezTo>
                  <a:cubicBezTo>
                    <a:pt x="35485" y="8890"/>
                    <a:pt x="46915" y="1270"/>
                    <a:pt x="59615" y="0"/>
                  </a:cubicBezTo>
                  <a:cubicBezTo>
                    <a:pt x="78665" y="0"/>
                    <a:pt x="128195" y="21590"/>
                    <a:pt x="128195" y="21590"/>
                  </a:cubicBezTo>
                </a:path>
              </a:pathLst>
            </a:custGeom>
            <a:solidFill>
              <a:srgbClr val="E7A09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789872" y="4243388"/>
            <a:ext cx="188595" cy="189548"/>
            <a:chOff x="0" y="0"/>
            <a:chExt cx="251460" cy="2527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800" y="50800"/>
              <a:ext cx="148590" cy="151938"/>
            </a:xfrm>
            <a:custGeom>
              <a:avLst/>
              <a:gdLst/>
              <a:ahLst/>
              <a:cxnLst/>
              <a:rect r="r" b="b" t="t" l="l"/>
              <a:pathLst>
                <a:path h="151938" w="148590">
                  <a:moveTo>
                    <a:pt x="148590" y="53340"/>
                  </a:moveTo>
                  <a:cubicBezTo>
                    <a:pt x="129540" y="133350"/>
                    <a:pt x="118110" y="139700"/>
                    <a:pt x="107950" y="144780"/>
                  </a:cubicBezTo>
                  <a:cubicBezTo>
                    <a:pt x="96520" y="149860"/>
                    <a:pt x="85090" y="153670"/>
                    <a:pt x="72390" y="151130"/>
                  </a:cubicBezTo>
                  <a:cubicBezTo>
                    <a:pt x="53340" y="148590"/>
                    <a:pt x="22860" y="129540"/>
                    <a:pt x="11430" y="114300"/>
                  </a:cubicBezTo>
                  <a:cubicBezTo>
                    <a:pt x="2540" y="104140"/>
                    <a:pt x="0" y="92710"/>
                    <a:pt x="0" y="80010"/>
                  </a:cubicBezTo>
                  <a:cubicBezTo>
                    <a:pt x="1270" y="62230"/>
                    <a:pt x="16510" y="27940"/>
                    <a:pt x="29210" y="15240"/>
                  </a:cubicBezTo>
                  <a:cubicBezTo>
                    <a:pt x="39370" y="6350"/>
                    <a:pt x="49530" y="1270"/>
                    <a:pt x="62230" y="0"/>
                  </a:cubicBezTo>
                  <a:cubicBezTo>
                    <a:pt x="81280" y="0"/>
                    <a:pt x="130810" y="21590"/>
                    <a:pt x="130810" y="21590"/>
                  </a:cubicBezTo>
                </a:path>
              </a:pathLst>
            </a:custGeom>
            <a:solidFill>
              <a:srgbClr val="E7A092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106355" y="2541440"/>
            <a:ext cx="10208026" cy="6716860"/>
          </a:xfrm>
          <a:custGeom>
            <a:avLst/>
            <a:gdLst/>
            <a:ahLst/>
            <a:cxnLst/>
            <a:rect r="r" b="b" t="t" l="l"/>
            <a:pathLst>
              <a:path h="6716860" w="10208026">
                <a:moveTo>
                  <a:pt x="0" y="0"/>
                </a:moveTo>
                <a:lnTo>
                  <a:pt x="10208026" y="0"/>
                </a:lnTo>
                <a:lnTo>
                  <a:pt x="10208026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58" r="0" b="-65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89894" y="1639477"/>
            <a:ext cx="112677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MILESTONE 3: RECOMMENDATION ENGINE &amp; ANALYTICS DASHBOARD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9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5305" y="-770590"/>
            <a:ext cx="23298611" cy="11828180"/>
            <a:chOff x="0" y="0"/>
            <a:chExt cx="31064814" cy="15770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93908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09079" y="445222"/>
            <a:ext cx="14269843" cy="9396557"/>
          </a:xfrm>
          <a:custGeom>
            <a:avLst/>
            <a:gdLst/>
            <a:ahLst/>
            <a:cxnLst/>
            <a:rect r="r" b="b" t="t" l="l"/>
            <a:pathLst>
              <a:path h="9396557" w="14269843">
                <a:moveTo>
                  <a:pt x="0" y="0"/>
                </a:moveTo>
                <a:lnTo>
                  <a:pt x="14269842" y="0"/>
                </a:lnTo>
                <a:lnTo>
                  <a:pt x="14269842" y="9396556"/>
                </a:lnTo>
                <a:lnTo>
                  <a:pt x="0" y="9396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46982" y="6823121"/>
            <a:ext cx="3463879" cy="3463879"/>
          </a:xfrm>
          <a:custGeom>
            <a:avLst/>
            <a:gdLst/>
            <a:ahLst/>
            <a:cxnLst/>
            <a:rect r="r" b="b" t="t" l="l"/>
            <a:pathLst>
              <a:path h="3463879" w="3463879">
                <a:moveTo>
                  <a:pt x="0" y="0"/>
                </a:moveTo>
                <a:lnTo>
                  <a:pt x="3463879" y="0"/>
                </a:lnTo>
                <a:lnTo>
                  <a:pt x="3463879" y="3463879"/>
                </a:lnTo>
                <a:lnTo>
                  <a:pt x="0" y="3463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2530299" cy="3007737"/>
          </a:xfrm>
          <a:custGeom>
            <a:avLst/>
            <a:gdLst/>
            <a:ahLst/>
            <a:cxnLst/>
            <a:rect r="r" b="b" t="t" l="l"/>
            <a:pathLst>
              <a:path h="3007737" w="2530299">
                <a:moveTo>
                  <a:pt x="0" y="0"/>
                </a:moveTo>
                <a:lnTo>
                  <a:pt x="2530299" y="0"/>
                </a:lnTo>
                <a:lnTo>
                  <a:pt x="2530299" y="3007737"/>
                </a:lnTo>
                <a:lnTo>
                  <a:pt x="0" y="30077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980" y="5567099"/>
            <a:ext cx="2347472" cy="4559096"/>
          </a:xfrm>
          <a:custGeom>
            <a:avLst/>
            <a:gdLst/>
            <a:ahLst/>
            <a:cxnLst/>
            <a:rect r="r" b="b" t="t" l="l"/>
            <a:pathLst>
              <a:path h="4559096" w="2347472">
                <a:moveTo>
                  <a:pt x="0" y="0"/>
                </a:moveTo>
                <a:lnTo>
                  <a:pt x="2347473" y="0"/>
                </a:lnTo>
                <a:lnTo>
                  <a:pt x="2347473" y="4559095"/>
                </a:lnTo>
                <a:lnTo>
                  <a:pt x="0" y="4559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77452" y="4202430"/>
            <a:ext cx="182880" cy="189548"/>
            <a:chOff x="0" y="0"/>
            <a:chExt cx="243840" cy="2527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7065" y="50800"/>
              <a:ext cx="145975" cy="151938"/>
            </a:xfrm>
            <a:custGeom>
              <a:avLst/>
              <a:gdLst/>
              <a:ahLst/>
              <a:cxnLst/>
              <a:rect r="r" b="b" t="t" l="l"/>
              <a:pathLst>
                <a:path h="151938" w="145975">
                  <a:moveTo>
                    <a:pt x="145975" y="53340"/>
                  </a:moveTo>
                  <a:cubicBezTo>
                    <a:pt x="126925" y="133350"/>
                    <a:pt x="115495" y="139700"/>
                    <a:pt x="105335" y="144780"/>
                  </a:cubicBezTo>
                  <a:cubicBezTo>
                    <a:pt x="93905" y="149860"/>
                    <a:pt x="82475" y="153670"/>
                    <a:pt x="69775" y="151130"/>
                  </a:cubicBezTo>
                  <a:cubicBezTo>
                    <a:pt x="50725" y="148590"/>
                    <a:pt x="18975" y="133350"/>
                    <a:pt x="8815" y="115570"/>
                  </a:cubicBezTo>
                  <a:cubicBezTo>
                    <a:pt x="-2615" y="96520"/>
                    <a:pt x="-1345" y="62230"/>
                    <a:pt x="3735" y="44450"/>
                  </a:cubicBezTo>
                  <a:cubicBezTo>
                    <a:pt x="8815" y="31750"/>
                    <a:pt x="17705" y="22860"/>
                    <a:pt x="26595" y="15240"/>
                  </a:cubicBezTo>
                  <a:cubicBezTo>
                    <a:pt x="35485" y="8890"/>
                    <a:pt x="46915" y="1270"/>
                    <a:pt x="59615" y="0"/>
                  </a:cubicBezTo>
                  <a:cubicBezTo>
                    <a:pt x="78665" y="0"/>
                    <a:pt x="128195" y="21590"/>
                    <a:pt x="128195" y="21590"/>
                  </a:cubicBezTo>
                </a:path>
              </a:pathLst>
            </a:custGeom>
            <a:solidFill>
              <a:srgbClr val="E7A09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789872" y="4243388"/>
            <a:ext cx="188595" cy="189548"/>
            <a:chOff x="0" y="0"/>
            <a:chExt cx="251460" cy="2527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148590" cy="151938"/>
            </a:xfrm>
            <a:custGeom>
              <a:avLst/>
              <a:gdLst/>
              <a:ahLst/>
              <a:cxnLst/>
              <a:rect r="r" b="b" t="t" l="l"/>
              <a:pathLst>
                <a:path h="151938" w="148590">
                  <a:moveTo>
                    <a:pt x="148590" y="53340"/>
                  </a:moveTo>
                  <a:cubicBezTo>
                    <a:pt x="129540" y="133350"/>
                    <a:pt x="118110" y="139700"/>
                    <a:pt x="107950" y="144780"/>
                  </a:cubicBezTo>
                  <a:cubicBezTo>
                    <a:pt x="96520" y="149860"/>
                    <a:pt x="85090" y="153670"/>
                    <a:pt x="72390" y="151130"/>
                  </a:cubicBezTo>
                  <a:cubicBezTo>
                    <a:pt x="53340" y="148590"/>
                    <a:pt x="22860" y="129540"/>
                    <a:pt x="11430" y="114300"/>
                  </a:cubicBezTo>
                  <a:cubicBezTo>
                    <a:pt x="2540" y="104140"/>
                    <a:pt x="0" y="92710"/>
                    <a:pt x="0" y="80010"/>
                  </a:cubicBezTo>
                  <a:cubicBezTo>
                    <a:pt x="1270" y="62230"/>
                    <a:pt x="16510" y="27940"/>
                    <a:pt x="29210" y="15240"/>
                  </a:cubicBezTo>
                  <a:cubicBezTo>
                    <a:pt x="39370" y="6350"/>
                    <a:pt x="49530" y="1270"/>
                    <a:pt x="62230" y="0"/>
                  </a:cubicBezTo>
                  <a:cubicBezTo>
                    <a:pt x="81280" y="0"/>
                    <a:pt x="130810" y="21590"/>
                    <a:pt x="130810" y="21590"/>
                  </a:cubicBezTo>
                </a:path>
              </a:pathLst>
            </a:custGeom>
            <a:solidFill>
              <a:srgbClr val="E7A092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660333" y="2969692"/>
            <a:ext cx="13084230" cy="6288608"/>
          </a:xfrm>
          <a:custGeom>
            <a:avLst/>
            <a:gdLst/>
            <a:ahLst/>
            <a:cxnLst/>
            <a:rect r="r" b="b" t="t" l="l"/>
            <a:pathLst>
              <a:path h="6288608" w="13084230">
                <a:moveTo>
                  <a:pt x="0" y="0"/>
                </a:moveTo>
                <a:lnTo>
                  <a:pt x="13084230" y="0"/>
                </a:lnTo>
                <a:lnTo>
                  <a:pt x="13084230" y="6288608"/>
                </a:lnTo>
                <a:lnTo>
                  <a:pt x="0" y="62886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72000" y="1906058"/>
            <a:ext cx="91440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RECOMMENDATION ENGINE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5305" y="-770590"/>
            <a:ext cx="23298611" cy="11828180"/>
            <a:chOff x="0" y="0"/>
            <a:chExt cx="31064814" cy="15770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93908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09079" y="445222"/>
            <a:ext cx="14269843" cy="9396557"/>
          </a:xfrm>
          <a:custGeom>
            <a:avLst/>
            <a:gdLst/>
            <a:ahLst/>
            <a:cxnLst/>
            <a:rect r="r" b="b" t="t" l="l"/>
            <a:pathLst>
              <a:path h="9396557" w="14269843">
                <a:moveTo>
                  <a:pt x="0" y="0"/>
                </a:moveTo>
                <a:lnTo>
                  <a:pt x="14269842" y="0"/>
                </a:lnTo>
                <a:lnTo>
                  <a:pt x="14269842" y="9396556"/>
                </a:lnTo>
                <a:lnTo>
                  <a:pt x="0" y="9396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4178" y="165287"/>
            <a:ext cx="2530299" cy="3007737"/>
          </a:xfrm>
          <a:custGeom>
            <a:avLst/>
            <a:gdLst/>
            <a:ahLst/>
            <a:cxnLst/>
            <a:rect r="r" b="b" t="t" l="l"/>
            <a:pathLst>
              <a:path h="3007737" w="2530299">
                <a:moveTo>
                  <a:pt x="0" y="0"/>
                </a:moveTo>
                <a:lnTo>
                  <a:pt x="2530299" y="0"/>
                </a:lnTo>
                <a:lnTo>
                  <a:pt x="2530299" y="3007736"/>
                </a:lnTo>
                <a:lnTo>
                  <a:pt x="0" y="3007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43153">
            <a:off x="15615361" y="1140261"/>
            <a:ext cx="1357788" cy="3607301"/>
          </a:xfrm>
          <a:custGeom>
            <a:avLst/>
            <a:gdLst/>
            <a:ahLst/>
            <a:cxnLst/>
            <a:rect r="r" b="b" t="t" l="l"/>
            <a:pathLst>
              <a:path h="3607301" w="1357788">
                <a:moveTo>
                  <a:pt x="0" y="0"/>
                </a:moveTo>
                <a:lnTo>
                  <a:pt x="1357788" y="0"/>
                </a:lnTo>
                <a:lnTo>
                  <a:pt x="1357788" y="3607301"/>
                </a:lnTo>
                <a:lnTo>
                  <a:pt x="0" y="3607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0373" y="7938617"/>
            <a:ext cx="3806953" cy="2187577"/>
          </a:xfrm>
          <a:custGeom>
            <a:avLst/>
            <a:gdLst/>
            <a:ahLst/>
            <a:cxnLst/>
            <a:rect r="r" b="b" t="t" l="l"/>
            <a:pathLst>
              <a:path h="2187577" w="3806953">
                <a:moveTo>
                  <a:pt x="0" y="0"/>
                </a:moveTo>
                <a:lnTo>
                  <a:pt x="3806953" y="0"/>
                </a:lnTo>
                <a:lnTo>
                  <a:pt x="3806953" y="2187577"/>
                </a:lnTo>
                <a:lnTo>
                  <a:pt x="0" y="21875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85813" y="7006381"/>
            <a:ext cx="2786216" cy="2835398"/>
          </a:xfrm>
          <a:custGeom>
            <a:avLst/>
            <a:gdLst/>
            <a:ahLst/>
            <a:cxnLst/>
            <a:rect r="r" b="b" t="t" l="l"/>
            <a:pathLst>
              <a:path h="2835398" w="2786216">
                <a:moveTo>
                  <a:pt x="0" y="0"/>
                </a:moveTo>
                <a:lnTo>
                  <a:pt x="2786216" y="0"/>
                </a:lnTo>
                <a:lnTo>
                  <a:pt x="2786216" y="2835397"/>
                </a:lnTo>
                <a:lnTo>
                  <a:pt x="0" y="28353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00719" y="1334858"/>
            <a:ext cx="7944379" cy="3808642"/>
          </a:xfrm>
          <a:custGeom>
            <a:avLst/>
            <a:gdLst/>
            <a:ahLst/>
            <a:cxnLst/>
            <a:rect r="r" b="b" t="t" l="l"/>
            <a:pathLst>
              <a:path h="3808642" w="7944379">
                <a:moveTo>
                  <a:pt x="0" y="0"/>
                </a:moveTo>
                <a:lnTo>
                  <a:pt x="7944379" y="0"/>
                </a:lnTo>
                <a:lnTo>
                  <a:pt x="7944379" y="3808642"/>
                </a:lnTo>
                <a:lnTo>
                  <a:pt x="0" y="380864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26" r="0" b="-12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85700" y="5453473"/>
            <a:ext cx="6462032" cy="3105814"/>
          </a:xfrm>
          <a:custGeom>
            <a:avLst/>
            <a:gdLst/>
            <a:ahLst/>
            <a:cxnLst/>
            <a:rect r="r" b="b" t="t" l="l"/>
            <a:pathLst>
              <a:path h="3105814" w="6462032">
                <a:moveTo>
                  <a:pt x="0" y="0"/>
                </a:moveTo>
                <a:lnTo>
                  <a:pt x="6462032" y="0"/>
                </a:lnTo>
                <a:lnTo>
                  <a:pt x="6462032" y="3105815"/>
                </a:lnTo>
                <a:lnTo>
                  <a:pt x="0" y="31058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9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5305" y="-770590"/>
            <a:ext cx="23298611" cy="11828180"/>
            <a:chOff x="0" y="0"/>
            <a:chExt cx="31064814" cy="15770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93908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09079" y="445222"/>
            <a:ext cx="14269843" cy="9396557"/>
          </a:xfrm>
          <a:custGeom>
            <a:avLst/>
            <a:gdLst/>
            <a:ahLst/>
            <a:cxnLst/>
            <a:rect r="r" b="b" t="t" l="l"/>
            <a:pathLst>
              <a:path h="9396557" w="14269843">
                <a:moveTo>
                  <a:pt x="0" y="0"/>
                </a:moveTo>
                <a:lnTo>
                  <a:pt x="14269842" y="0"/>
                </a:lnTo>
                <a:lnTo>
                  <a:pt x="14269842" y="9396556"/>
                </a:lnTo>
                <a:lnTo>
                  <a:pt x="0" y="9396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25264" y="6177906"/>
            <a:ext cx="2306607" cy="2306607"/>
          </a:xfrm>
          <a:custGeom>
            <a:avLst/>
            <a:gdLst/>
            <a:ahLst/>
            <a:cxnLst/>
            <a:rect r="r" b="b" t="t" l="l"/>
            <a:pathLst>
              <a:path h="2306607" w="2306607">
                <a:moveTo>
                  <a:pt x="0" y="0"/>
                </a:moveTo>
                <a:lnTo>
                  <a:pt x="2306607" y="0"/>
                </a:lnTo>
                <a:lnTo>
                  <a:pt x="2306607" y="2306607"/>
                </a:lnTo>
                <a:lnTo>
                  <a:pt x="0" y="2306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7246" y="115727"/>
            <a:ext cx="1089155" cy="1294666"/>
          </a:xfrm>
          <a:custGeom>
            <a:avLst/>
            <a:gdLst/>
            <a:ahLst/>
            <a:cxnLst/>
            <a:rect r="r" b="b" t="t" l="l"/>
            <a:pathLst>
              <a:path h="1294666" w="1089155">
                <a:moveTo>
                  <a:pt x="0" y="0"/>
                </a:moveTo>
                <a:lnTo>
                  <a:pt x="1089155" y="0"/>
                </a:lnTo>
                <a:lnTo>
                  <a:pt x="1089155" y="1294666"/>
                </a:lnTo>
                <a:lnTo>
                  <a:pt x="0" y="12946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20577">
            <a:off x="16903574" y="263769"/>
            <a:ext cx="795869" cy="3277880"/>
          </a:xfrm>
          <a:custGeom>
            <a:avLst/>
            <a:gdLst/>
            <a:ahLst/>
            <a:cxnLst/>
            <a:rect r="r" b="b" t="t" l="l"/>
            <a:pathLst>
              <a:path h="3277880" w="795869">
                <a:moveTo>
                  <a:pt x="0" y="0"/>
                </a:moveTo>
                <a:lnTo>
                  <a:pt x="795869" y="0"/>
                </a:lnTo>
                <a:lnTo>
                  <a:pt x="795869" y="3277880"/>
                </a:lnTo>
                <a:lnTo>
                  <a:pt x="0" y="3277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93440" y="5483542"/>
            <a:ext cx="2244561" cy="3000970"/>
          </a:xfrm>
          <a:custGeom>
            <a:avLst/>
            <a:gdLst/>
            <a:ahLst/>
            <a:cxnLst/>
            <a:rect r="r" b="b" t="t" l="l"/>
            <a:pathLst>
              <a:path h="3000970" w="2244561">
                <a:moveTo>
                  <a:pt x="0" y="0"/>
                </a:moveTo>
                <a:lnTo>
                  <a:pt x="2244561" y="0"/>
                </a:lnTo>
                <a:lnTo>
                  <a:pt x="2244561" y="3000971"/>
                </a:lnTo>
                <a:lnTo>
                  <a:pt x="0" y="30009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499080" y="5483542"/>
            <a:ext cx="188595" cy="184785"/>
            <a:chOff x="0" y="0"/>
            <a:chExt cx="251460" cy="2463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800" y="50749"/>
              <a:ext cx="149860" cy="147474"/>
            </a:xfrm>
            <a:custGeom>
              <a:avLst/>
              <a:gdLst/>
              <a:ahLst/>
              <a:cxnLst/>
              <a:rect r="r" b="b" t="t" l="l"/>
              <a:pathLst>
                <a:path h="147474" w="149860">
                  <a:moveTo>
                    <a:pt x="149860" y="52121"/>
                  </a:moveTo>
                  <a:cubicBezTo>
                    <a:pt x="129540" y="133401"/>
                    <a:pt x="120650" y="141021"/>
                    <a:pt x="107950" y="144831"/>
                  </a:cubicBezTo>
                  <a:cubicBezTo>
                    <a:pt x="90170" y="149911"/>
                    <a:pt x="53340" y="147371"/>
                    <a:pt x="36830" y="139751"/>
                  </a:cubicBezTo>
                  <a:cubicBezTo>
                    <a:pt x="25400" y="134671"/>
                    <a:pt x="17780" y="124511"/>
                    <a:pt x="11430" y="114351"/>
                  </a:cubicBezTo>
                  <a:cubicBezTo>
                    <a:pt x="5080" y="104191"/>
                    <a:pt x="0" y="92761"/>
                    <a:pt x="0" y="80061"/>
                  </a:cubicBezTo>
                  <a:cubicBezTo>
                    <a:pt x="1270" y="61011"/>
                    <a:pt x="16510" y="27991"/>
                    <a:pt x="29210" y="15291"/>
                  </a:cubicBezTo>
                  <a:cubicBezTo>
                    <a:pt x="39370" y="5131"/>
                    <a:pt x="49530" y="1321"/>
                    <a:pt x="62230" y="51"/>
                  </a:cubicBezTo>
                  <a:cubicBezTo>
                    <a:pt x="81280" y="-1219"/>
                    <a:pt x="130810" y="21641"/>
                    <a:pt x="130810" y="21641"/>
                  </a:cubicBezTo>
                </a:path>
              </a:pathLst>
            </a:custGeom>
            <a:solidFill>
              <a:srgbClr val="E7A09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904845" y="5503545"/>
            <a:ext cx="188595" cy="184785"/>
            <a:chOff x="0" y="0"/>
            <a:chExt cx="251460" cy="2463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04" y="50749"/>
              <a:ext cx="148786" cy="147474"/>
            </a:xfrm>
            <a:custGeom>
              <a:avLst/>
              <a:gdLst/>
              <a:ahLst/>
              <a:cxnLst/>
              <a:rect r="r" b="b" t="t" l="l"/>
              <a:pathLst>
                <a:path h="147474" w="148786">
                  <a:moveTo>
                    <a:pt x="148786" y="52121"/>
                  </a:moveTo>
                  <a:cubicBezTo>
                    <a:pt x="128466" y="133401"/>
                    <a:pt x="119576" y="141021"/>
                    <a:pt x="106876" y="144831"/>
                  </a:cubicBezTo>
                  <a:cubicBezTo>
                    <a:pt x="89096" y="149911"/>
                    <a:pt x="53536" y="147371"/>
                    <a:pt x="37026" y="139751"/>
                  </a:cubicBezTo>
                  <a:cubicBezTo>
                    <a:pt x="24326" y="134671"/>
                    <a:pt x="16706" y="124511"/>
                    <a:pt x="10356" y="114351"/>
                  </a:cubicBezTo>
                  <a:cubicBezTo>
                    <a:pt x="4006" y="104191"/>
                    <a:pt x="-1074" y="92761"/>
                    <a:pt x="196" y="80061"/>
                  </a:cubicBezTo>
                  <a:cubicBezTo>
                    <a:pt x="1466" y="61011"/>
                    <a:pt x="15436" y="27991"/>
                    <a:pt x="29406" y="15291"/>
                  </a:cubicBezTo>
                  <a:cubicBezTo>
                    <a:pt x="38296" y="5131"/>
                    <a:pt x="48456" y="1321"/>
                    <a:pt x="62426" y="51"/>
                  </a:cubicBezTo>
                  <a:cubicBezTo>
                    <a:pt x="80206" y="-1219"/>
                    <a:pt x="129736" y="21641"/>
                    <a:pt x="129736" y="21641"/>
                  </a:cubicBezTo>
                </a:path>
              </a:pathLst>
            </a:custGeom>
            <a:solidFill>
              <a:srgbClr val="E7A092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143512" y="1410393"/>
            <a:ext cx="12449865" cy="6045966"/>
          </a:xfrm>
          <a:custGeom>
            <a:avLst/>
            <a:gdLst/>
            <a:ahLst/>
            <a:cxnLst/>
            <a:rect r="r" b="b" t="t" l="l"/>
            <a:pathLst>
              <a:path h="6045966" w="12449865">
                <a:moveTo>
                  <a:pt x="0" y="0"/>
                </a:moveTo>
                <a:lnTo>
                  <a:pt x="12449866" y="0"/>
                </a:lnTo>
                <a:lnTo>
                  <a:pt x="12449866" y="6045966"/>
                </a:lnTo>
                <a:lnTo>
                  <a:pt x="0" y="60459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345549" y="7331209"/>
            <a:ext cx="9300517" cy="2510569"/>
          </a:xfrm>
          <a:custGeom>
            <a:avLst/>
            <a:gdLst/>
            <a:ahLst/>
            <a:cxnLst/>
            <a:rect r="r" b="b" t="t" l="l"/>
            <a:pathLst>
              <a:path h="2510569" w="9300517">
                <a:moveTo>
                  <a:pt x="0" y="0"/>
                </a:moveTo>
                <a:lnTo>
                  <a:pt x="9300517" y="0"/>
                </a:lnTo>
                <a:lnTo>
                  <a:pt x="9300517" y="2510569"/>
                </a:lnTo>
                <a:lnTo>
                  <a:pt x="0" y="25105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9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5305" y="-770590"/>
            <a:ext cx="23298611" cy="11828180"/>
            <a:chOff x="0" y="0"/>
            <a:chExt cx="31064814" cy="15770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93908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09079" y="445222"/>
            <a:ext cx="14269843" cy="9396557"/>
          </a:xfrm>
          <a:custGeom>
            <a:avLst/>
            <a:gdLst/>
            <a:ahLst/>
            <a:cxnLst/>
            <a:rect r="r" b="b" t="t" l="l"/>
            <a:pathLst>
              <a:path h="9396557" w="14269843">
                <a:moveTo>
                  <a:pt x="0" y="0"/>
                </a:moveTo>
                <a:lnTo>
                  <a:pt x="14269842" y="0"/>
                </a:lnTo>
                <a:lnTo>
                  <a:pt x="14269842" y="9396556"/>
                </a:lnTo>
                <a:lnTo>
                  <a:pt x="0" y="9396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247" y="7382494"/>
            <a:ext cx="1694906" cy="1694906"/>
          </a:xfrm>
          <a:custGeom>
            <a:avLst/>
            <a:gdLst/>
            <a:ahLst/>
            <a:cxnLst/>
            <a:rect r="r" b="b" t="t" l="l"/>
            <a:pathLst>
              <a:path h="1694906" w="1694906">
                <a:moveTo>
                  <a:pt x="0" y="0"/>
                </a:moveTo>
                <a:lnTo>
                  <a:pt x="1694906" y="0"/>
                </a:lnTo>
                <a:lnTo>
                  <a:pt x="1694906" y="1694906"/>
                </a:lnTo>
                <a:lnTo>
                  <a:pt x="0" y="16949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2530299" cy="3007737"/>
          </a:xfrm>
          <a:custGeom>
            <a:avLst/>
            <a:gdLst/>
            <a:ahLst/>
            <a:cxnLst/>
            <a:rect r="r" b="b" t="t" l="l"/>
            <a:pathLst>
              <a:path h="3007737" w="2530299">
                <a:moveTo>
                  <a:pt x="0" y="0"/>
                </a:moveTo>
                <a:lnTo>
                  <a:pt x="2530299" y="0"/>
                </a:lnTo>
                <a:lnTo>
                  <a:pt x="2530299" y="3007737"/>
                </a:lnTo>
                <a:lnTo>
                  <a:pt x="0" y="30077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20577">
            <a:off x="15619896" y="1206119"/>
            <a:ext cx="795869" cy="3277880"/>
          </a:xfrm>
          <a:custGeom>
            <a:avLst/>
            <a:gdLst/>
            <a:ahLst/>
            <a:cxnLst/>
            <a:rect r="r" b="b" t="t" l="l"/>
            <a:pathLst>
              <a:path h="3277880" w="795869">
                <a:moveTo>
                  <a:pt x="0" y="0"/>
                </a:moveTo>
                <a:lnTo>
                  <a:pt x="795870" y="0"/>
                </a:lnTo>
                <a:lnTo>
                  <a:pt x="795870" y="3277880"/>
                </a:lnTo>
                <a:lnTo>
                  <a:pt x="0" y="3277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499080" y="5483542"/>
            <a:ext cx="188595" cy="184785"/>
            <a:chOff x="0" y="0"/>
            <a:chExt cx="251460" cy="2463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800" y="50749"/>
              <a:ext cx="149860" cy="147474"/>
            </a:xfrm>
            <a:custGeom>
              <a:avLst/>
              <a:gdLst/>
              <a:ahLst/>
              <a:cxnLst/>
              <a:rect r="r" b="b" t="t" l="l"/>
              <a:pathLst>
                <a:path h="147474" w="149860">
                  <a:moveTo>
                    <a:pt x="149860" y="52121"/>
                  </a:moveTo>
                  <a:cubicBezTo>
                    <a:pt x="129540" y="133401"/>
                    <a:pt x="120650" y="141021"/>
                    <a:pt x="107950" y="144831"/>
                  </a:cubicBezTo>
                  <a:cubicBezTo>
                    <a:pt x="90170" y="149911"/>
                    <a:pt x="53340" y="147371"/>
                    <a:pt x="36830" y="139751"/>
                  </a:cubicBezTo>
                  <a:cubicBezTo>
                    <a:pt x="25400" y="134671"/>
                    <a:pt x="17780" y="124511"/>
                    <a:pt x="11430" y="114351"/>
                  </a:cubicBezTo>
                  <a:cubicBezTo>
                    <a:pt x="5080" y="104191"/>
                    <a:pt x="0" y="92761"/>
                    <a:pt x="0" y="80061"/>
                  </a:cubicBezTo>
                  <a:cubicBezTo>
                    <a:pt x="1270" y="61011"/>
                    <a:pt x="16510" y="27991"/>
                    <a:pt x="29210" y="15291"/>
                  </a:cubicBezTo>
                  <a:cubicBezTo>
                    <a:pt x="39370" y="5131"/>
                    <a:pt x="49530" y="1321"/>
                    <a:pt x="62230" y="51"/>
                  </a:cubicBezTo>
                  <a:cubicBezTo>
                    <a:pt x="81280" y="-1219"/>
                    <a:pt x="130810" y="21641"/>
                    <a:pt x="130810" y="21641"/>
                  </a:cubicBezTo>
                </a:path>
              </a:pathLst>
            </a:custGeom>
            <a:solidFill>
              <a:srgbClr val="E7A09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904845" y="5503545"/>
            <a:ext cx="188595" cy="184785"/>
            <a:chOff x="0" y="0"/>
            <a:chExt cx="251460" cy="2463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604" y="50749"/>
              <a:ext cx="148786" cy="147474"/>
            </a:xfrm>
            <a:custGeom>
              <a:avLst/>
              <a:gdLst/>
              <a:ahLst/>
              <a:cxnLst/>
              <a:rect r="r" b="b" t="t" l="l"/>
              <a:pathLst>
                <a:path h="147474" w="148786">
                  <a:moveTo>
                    <a:pt x="148786" y="52121"/>
                  </a:moveTo>
                  <a:cubicBezTo>
                    <a:pt x="128466" y="133401"/>
                    <a:pt x="119576" y="141021"/>
                    <a:pt x="106876" y="144831"/>
                  </a:cubicBezTo>
                  <a:cubicBezTo>
                    <a:pt x="89096" y="149911"/>
                    <a:pt x="53536" y="147371"/>
                    <a:pt x="37026" y="139751"/>
                  </a:cubicBezTo>
                  <a:cubicBezTo>
                    <a:pt x="24326" y="134671"/>
                    <a:pt x="16706" y="124511"/>
                    <a:pt x="10356" y="114351"/>
                  </a:cubicBezTo>
                  <a:cubicBezTo>
                    <a:pt x="4006" y="104191"/>
                    <a:pt x="-1074" y="92761"/>
                    <a:pt x="196" y="80061"/>
                  </a:cubicBezTo>
                  <a:cubicBezTo>
                    <a:pt x="1466" y="61011"/>
                    <a:pt x="15436" y="27991"/>
                    <a:pt x="29406" y="15291"/>
                  </a:cubicBezTo>
                  <a:cubicBezTo>
                    <a:pt x="38296" y="5131"/>
                    <a:pt x="48456" y="1321"/>
                    <a:pt x="62426" y="51"/>
                  </a:cubicBezTo>
                  <a:cubicBezTo>
                    <a:pt x="80206" y="-1219"/>
                    <a:pt x="129736" y="21641"/>
                    <a:pt x="129736" y="21641"/>
                  </a:cubicBezTo>
                </a:path>
              </a:pathLst>
            </a:custGeom>
            <a:solidFill>
              <a:srgbClr val="E7A092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922251" y="4984703"/>
            <a:ext cx="9095580" cy="2898062"/>
          </a:xfrm>
          <a:custGeom>
            <a:avLst/>
            <a:gdLst/>
            <a:ahLst/>
            <a:cxnLst/>
            <a:rect r="r" b="b" t="t" l="l"/>
            <a:pathLst>
              <a:path h="2898062" w="9095580">
                <a:moveTo>
                  <a:pt x="0" y="0"/>
                </a:moveTo>
                <a:lnTo>
                  <a:pt x="9095580" y="0"/>
                </a:lnTo>
                <a:lnTo>
                  <a:pt x="9095580" y="2898062"/>
                </a:lnTo>
                <a:lnTo>
                  <a:pt x="0" y="28980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72000" y="1813645"/>
            <a:ext cx="91440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ANALYTICS 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1590" y="3262630"/>
            <a:ext cx="7813110" cy="699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D2734"/>
                </a:solidFill>
                <a:latin typeface="Concert One"/>
                <a:ea typeface="Concert One"/>
                <a:cs typeface="Concert One"/>
                <a:sym typeface="Concert One"/>
              </a:rPr>
              <a:t>Healthcare Analytics Dashboard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        The dashboard converts existing healthcare data into useful insights.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Analytics: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Disease statistics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Symptom statistics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Risk-level distribution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Prediction statistics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Recent prediction activity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Approval/rejection statistics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Purpose: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Support data-driven healthcare monitoring and decision-making.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5305" y="-770590"/>
            <a:ext cx="23298611" cy="11828180"/>
            <a:chOff x="0" y="0"/>
            <a:chExt cx="31064814" cy="15770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93908" y="0"/>
              <a:ext cx="15770906" cy="15770906"/>
            </a:xfrm>
            <a:custGeom>
              <a:avLst/>
              <a:gdLst/>
              <a:ahLst/>
              <a:cxnLst/>
              <a:rect r="r" b="b" t="t" l="l"/>
              <a:pathLst>
                <a:path h="15770906" w="15770906">
                  <a:moveTo>
                    <a:pt x="0" y="0"/>
                  </a:moveTo>
                  <a:lnTo>
                    <a:pt x="15770906" y="0"/>
                  </a:lnTo>
                  <a:lnTo>
                    <a:pt x="15770906" y="15770906"/>
                  </a:lnTo>
                  <a:lnTo>
                    <a:pt x="0" y="1577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293850" y="-138257"/>
            <a:ext cx="14269843" cy="9396557"/>
          </a:xfrm>
          <a:custGeom>
            <a:avLst/>
            <a:gdLst/>
            <a:ahLst/>
            <a:cxnLst/>
            <a:rect r="r" b="b" t="t" l="l"/>
            <a:pathLst>
              <a:path h="9396557" w="14269843">
                <a:moveTo>
                  <a:pt x="0" y="0"/>
                </a:moveTo>
                <a:lnTo>
                  <a:pt x="14269842" y="0"/>
                </a:lnTo>
                <a:lnTo>
                  <a:pt x="14269842" y="9396557"/>
                </a:lnTo>
                <a:lnTo>
                  <a:pt x="0" y="9396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46982" y="6377899"/>
            <a:ext cx="3463879" cy="3463879"/>
          </a:xfrm>
          <a:custGeom>
            <a:avLst/>
            <a:gdLst/>
            <a:ahLst/>
            <a:cxnLst/>
            <a:rect r="r" b="b" t="t" l="l"/>
            <a:pathLst>
              <a:path h="3463879" w="3463879">
                <a:moveTo>
                  <a:pt x="0" y="0"/>
                </a:moveTo>
                <a:lnTo>
                  <a:pt x="3463879" y="0"/>
                </a:lnTo>
                <a:lnTo>
                  <a:pt x="3463879" y="3463879"/>
                </a:lnTo>
                <a:lnTo>
                  <a:pt x="0" y="3463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779" y="174558"/>
            <a:ext cx="2089951" cy="2484300"/>
          </a:xfrm>
          <a:custGeom>
            <a:avLst/>
            <a:gdLst/>
            <a:ahLst/>
            <a:cxnLst/>
            <a:rect r="r" b="b" t="t" l="l"/>
            <a:pathLst>
              <a:path h="2484300" w="2089951">
                <a:moveTo>
                  <a:pt x="0" y="0"/>
                </a:moveTo>
                <a:lnTo>
                  <a:pt x="2089951" y="0"/>
                </a:lnTo>
                <a:lnTo>
                  <a:pt x="2089951" y="2484300"/>
                </a:lnTo>
                <a:lnTo>
                  <a:pt x="0" y="24843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43153">
            <a:off x="16464184" y="120092"/>
            <a:ext cx="1357788" cy="3607301"/>
          </a:xfrm>
          <a:custGeom>
            <a:avLst/>
            <a:gdLst/>
            <a:ahLst/>
            <a:cxnLst/>
            <a:rect r="r" b="b" t="t" l="l"/>
            <a:pathLst>
              <a:path h="3607301" w="1357788">
                <a:moveTo>
                  <a:pt x="0" y="0"/>
                </a:moveTo>
                <a:lnTo>
                  <a:pt x="1357789" y="0"/>
                </a:lnTo>
                <a:lnTo>
                  <a:pt x="1357789" y="3607302"/>
                </a:lnTo>
                <a:lnTo>
                  <a:pt x="0" y="3607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0373" y="7938617"/>
            <a:ext cx="3806953" cy="2187577"/>
          </a:xfrm>
          <a:custGeom>
            <a:avLst/>
            <a:gdLst/>
            <a:ahLst/>
            <a:cxnLst/>
            <a:rect r="r" b="b" t="t" l="l"/>
            <a:pathLst>
              <a:path h="2187577" w="3806953">
                <a:moveTo>
                  <a:pt x="0" y="0"/>
                </a:moveTo>
                <a:lnTo>
                  <a:pt x="3806953" y="0"/>
                </a:lnTo>
                <a:lnTo>
                  <a:pt x="3806953" y="2187577"/>
                </a:lnTo>
                <a:lnTo>
                  <a:pt x="0" y="21875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64294" y="2283483"/>
            <a:ext cx="4923716" cy="6416217"/>
          </a:xfrm>
          <a:custGeom>
            <a:avLst/>
            <a:gdLst/>
            <a:ahLst/>
            <a:cxnLst/>
            <a:rect r="r" b="b" t="t" l="l"/>
            <a:pathLst>
              <a:path h="6416217" w="4923716">
                <a:moveTo>
                  <a:pt x="0" y="0"/>
                </a:moveTo>
                <a:lnTo>
                  <a:pt x="4923715" y="0"/>
                </a:lnTo>
                <a:lnTo>
                  <a:pt x="4923715" y="6416217"/>
                </a:lnTo>
                <a:lnTo>
                  <a:pt x="0" y="64162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81834" y="1350033"/>
            <a:ext cx="10143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DISEASE REPORTS &amp; HEALTH TRENDS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99755" y="2669894"/>
            <a:ext cx="3992954" cy="489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  <a:spcBef>
                <a:spcPct val="0"/>
              </a:spcBef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Disease Prediction Reports</a:t>
            </a:r>
          </a:p>
          <a:p>
            <a:pPr algn="ctr">
              <a:lnSpc>
                <a:spcPts val="3238"/>
              </a:lnSpc>
              <a:spcBef>
                <a:spcPct val="0"/>
              </a:spcBef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Reports contain:</a:t>
            </a:r>
          </a:p>
          <a:p>
            <a:pPr algn="l" marL="499466" indent="-249733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Reported symptoms</a:t>
            </a:r>
          </a:p>
          <a:p>
            <a:pPr algn="l" marL="499466" indent="-249733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Predicted disease</a:t>
            </a:r>
          </a:p>
          <a:p>
            <a:pPr algn="l" marL="499466" indent="-249733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Confidence/probability</a:t>
            </a:r>
          </a:p>
          <a:p>
            <a:pPr algn="l" marL="499466" indent="-249733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Risk level</a:t>
            </a:r>
          </a:p>
          <a:p>
            <a:pPr algn="l" marL="499466" indent="-249733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Disease prediction breakdown</a:t>
            </a:r>
          </a:p>
          <a:p>
            <a:pPr algn="l" marL="499466" indent="-249733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Recommendations</a:t>
            </a:r>
          </a:p>
          <a:p>
            <a:pPr algn="l" marL="499466" indent="-249733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Advisory information</a:t>
            </a:r>
          </a:p>
          <a:p>
            <a:pPr algn="l" marL="499466" indent="-249733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Date &amp; time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692709" y="2946684"/>
            <a:ext cx="3992954" cy="367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Health Trend Visualisation</a:t>
            </a:r>
          </a:p>
          <a:p>
            <a:pPr algn="ctr">
              <a:lnSpc>
                <a:spcPts val="3238"/>
              </a:lnSpc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Visualize:</a:t>
            </a:r>
          </a:p>
          <a:p>
            <a:pPr algn="l">
              <a:lnSpc>
                <a:spcPts val="3238"/>
              </a:lnSpc>
            </a:pPr>
          </a:p>
          <a:p>
            <a:pPr algn="l" marL="499466" indent="-249733" lvl="1">
              <a:lnSpc>
                <a:spcPts val="3238"/>
              </a:lnSpc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Disease trends</a:t>
            </a:r>
          </a:p>
          <a:p>
            <a:pPr algn="l" marL="499466" indent="-249733" lvl="1">
              <a:lnSpc>
                <a:spcPts val="3238"/>
              </a:lnSpc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Symptom frequency</a:t>
            </a:r>
          </a:p>
          <a:p>
            <a:pPr algn="l" marL="499466" indent="-249733" lvl="1">
              <a:lnSpc>
                <a:spcPts val="3238"/>
              </a:lnSpc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Risk trends</a:t>
            </a:r>
          </a:p>
          <a:p>
            <a:pPr algn="l" marL="499466" indent="-249733" lvl="1">
              <a:lnSpc>
                <a:spcPts val="3238"/>
              </a:lnSpc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Prediction confidence</a:t>
            </a:r>
          </a:p>
          <a:p>
            <a:pPr algn="l" marL="499466" indent="-249733" lvl="1">
              <a:lnSpc>
                <a:spcPts val="3238"/>
              </a:lnSpc>
              <a:buFont typeface="Arial"/>
              <a:buChar char="•"/>
            </a:pPr>
            <a:r>
              <a:rPr lang="en-US" sz="2313">
                <a:solidFill>
                  <a:srgbClr val="2D5A80"/>
                </a:solidFill>
                <a:latin typeface="Concert One"/>
                <a:ea typeface="Concert One"/>
                <a:cs typeface="Concert One"/>
                <a:sym typeface="Concert One"/>
              </a:rPr>
              <a:t>Patient health trends</a:t>
            </a:r>
          </a:p>
          <a:p>
            <a:pPr algn="l">
              <a:lnSpc>
                <a:spcPts val="3238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DAHTfxA16_s</dc:identifier>
  <dcterms:modified xsi:type="dcterms:W3CDTF">2011-08-01T06:04:30Z</dcterms:modified>
  <cp:revision>1</cp:revision>
  <dc:title>Milestone 3: Recommendation Engine &amp; Analytics Dashboard</dc:title>
</cp:coreProperties>
</file>