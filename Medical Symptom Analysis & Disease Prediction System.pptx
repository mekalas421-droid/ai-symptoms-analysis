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Bree Serif" charset="1" panose="0200050304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http://18.61.211.177" TargetMode="External" Type="http://schemas.openxmlformats.org/officeDocument/2006/relationships/hyperlink"/><Relationship Id="rId16" Target="http://18.61.211.177/health" TargetMode="External" Type="http://schemas.openxmlformats.org/officeDocument/2006/relationships/hyperlink"/><Relationship Id="rId17" Target="http://18.61.211.177/api/docs" TargetMode="External" Type="http://schemas.openxmlformats.org/officeDocument/2006/relationships/hyperlink"/><Relationship Id="rId18" Target="http://18.61.211.177/api/v1/symptoms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670" r="-2201" b="-470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72622">
            <a:off x="15725170" y="-1426947"/>
            <a:ext cx="2806471" cy="3437771"/>
          </a:xfrm>
          <a:custGeom>
            <a:avLst/>
            <a:gdLst/>
            <a:ahLst/>
            <a:cxnLst/>
            <a:rect r="r" b="b" t="t" l="l"/>
            <a:pathLst>
              <a:path h="3437771" w="2806471">
                <a:moveTo>
                  <a:pt x="0" y="0"/>
                </a:moveTo>
                <a:lnTo>
                  <a:pt x="2806471" y="0"/>
                </a:lnTo>
                <a:lnTo>
                  <a:pt x="2806471" y="3437771"/>
                </a:lnTo>
                <a:lnTo>
                  <a:pt x="0" y="3437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279394">
            <a:off x="14767564" y="4157021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14257">
            <a:off x="12785775" y="-426543"/>
            <a:ext cx="1556472" cy="2217771"/>
          </a:xfrm>
          <a:custGeom>
            <a:avLst/>
            <a:gdLst/>
            <a:ahLst/>
            <a:cxnLst/>
            <a:rect r="r" b="b" t="t" l="l"/>
            <a:pathLst>
              <a:path h="2217771" w="1556472">
                <a:moveTo>
                  <a:pt x="0" y="0"/>
                </a:moveTo>
                <a:lnTo>
                  <a:pt x="1556471" y="0"/>
                </a:lnTo>
                <a:lnTo>
                  <a:pt x="1556471" y="2217771"/>
                </a:lnTo>
                <a:lnTo>
                  <a:pt x="0" y="22177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289701">
            <a:off x="122492" y="-1204743"/>
            <a:ext cx="1904308" cy="3273030"/>
          </a:xfrm>
          <a:custGeom>
            <a:avLst/>
            <a:gdLst/>
            <a:ahLst/>
            <a:cxnLst/>
            <a:rect r="r" b="b" t="t" l="l"/>
            <a:pathLst>
              <a:path h="3273030" w="1904308">
                <a:moveTo>
                  <a:pt x="0" y="0"/>
                </a:moveTo>
                <a:lnTo>
                  <a:pt x="1904308" y="0"/>
                </a:lnTo>
                <a:lnTo>
                  <a:pt x="1904308" y="3273030"/>
                </a:lnTo>
                <a:lnTo>
                  <a:pt x="0" y="32730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68300">
            <a:off x="14369543" y="9042722"/>
            <a:ext cx="4927130" cy="3422116"/>
          </a:xfrm>
          <a:custGeom>
            <a:avLst/>
            <a:gdLst/>
            <a:ahLst/>
            <a:cxnLst/>
            <a:rect r="r" b="b" t="t" l="l"/>
            <a:pathLst>
              <a:path h="3422116" w="4927130">
                <a:moveTo>
                  <a:pt x="0" y="0"/>
                </a:moveTo>
                <a:lnTo>
                  <a:pt x="4927130" y="0"/>
                </a:lnTo>
                <a:lnTo>
                  <a:pt x="4927130" y="3422115"/>
                </a:lnTo>
                <a:lnTo>
                  <a:pt x="0" y="34221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92706" y="2381212"/>
            <a:ext cx="10075289" cy="6816669"/>
          </a:xfrm>
          <a:custGeom>
            <a:avLst/>
            <a:gdLst/>
            <a:ahLst/>
            <a:cxnLst/>
            <a:rect r="r" b="b" t="t" l="l"/>
            <a:pathLst>
              <a:path h="6816669" w="10075289">
                <a:moveTo>
                  <a:pt x="0" y="0"/>
                </a:moveTo>
                <a:lnTo>
                  <a:pt x="10075289" y="0"/>
                </a:lnTo>
                <a:lnTo>
                  <a:pt x="10075289" y="6816668"/>
                </a:lnTo>
                <a:lnTo>
                  <a:pt x="0" y="6816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42" t="0" r="-74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1324" y="763608"/>
            <a:ext cx="12430779" cy="1179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3"/>
              </a:lnSpc>
              <a:spcBef>
                <a:spcPct val="0"/>
              </a:spcBef>
            </a:pPr>
            <a:r>
              <a:rPr lang="en-US" sz="4474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Medical Symptom Analysis &amp; Disease Prediction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670" r="-2201" b="-47021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196108" y="1173770"/>
          <a:ext cx="11984824" cy="3969730"/>
        </p:xfrm>
        <a:graphic>
          <a:graphicData uri="http://schemas.openxmlformats.org/drawingml/2006/table">
            <a:tbl>
              <a:tblPr/>
              <a:tblGrid>
                <a:gridCol w="795452"/>
                <a:gridCol w="320182"/>
                <a:gridCol w="10869190"/>
              </a:tblGrid>
              <a:tr h="312420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555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48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53"/>
                        </a:lnSpc>
                        <a:defRPr/>
                      </a:pPr>
                      <a:r>
                        <a:rPr lang="en-US" sz="3466">
                          <a:solidFill>
                            <a:srgbClr val="000000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Validate AI model performance</a:t>
                      </a:r>
                      <a:endParaRPr lang="en-US" sz="1100"/>
                    </a:p>
                    <a:p>
                      <a:pPr algn="l">
                        <a:lnSpc>
                          <a:spcPts val="4853"/>
                        </a:lnSpc>
                      </a:pPr>
                      <a:r>
                        <a:rPr lang="en-US" sz="3466">
                          <a:solidFill>
                            <a:srgbClr val="000000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Test prediction accuracy and system workflows</a:t>
                      </a:r>
                    </a:p>
                    <a:p>
                      <a:pPr algn="l">
                        <a:lnSpc>
                          <a:spcPts val="4853"/>
                        </a:lnSpc>
                      </a:pPr>
                      <a:r>
                        <a:rPr lang="en-US" sz="3466">
                          <a:solidFill>
                            <a:srgbClr val="000000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Optimize healthcare workflows and dashboards</a:t>
                      </a:r>
                    </a:p>
                    <a:p>
                      <a:pPr algn="l">
                        <a:lnSpc>
                          <a:spcPts val="4853"/>
                        </a:lnSpc>
                      </a:pPr>
                      <a:r>
                        <a:rPr lang="en-US" sz="3466">
                          <a:solidFill>
                            <a:srgbClr val="000000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Deploy the platform in a cloud environment</a:t>
                      </a:r>
                    </a:p>
                    <a:p>
                      <a:pPr algn="l">
                        <a:lnSpc>
                          <a:spcPts val="4853"/>
                        </a:lnSpc>
                      </a:pPr>
                      <a:r>
                        <a:rPr lang="en-US" sz="3466">
                          <a:solidFill>
                            <a:srgbClr val="000000"/>
                          </a:solidFill>
                          <a:latin typeface="Bree Serif"/>
                          <a:ea typeface="Bree Serif"/>
                          <a:cs typeface="Bree Serif"/>
                          <a:sym typeface="Bree Serif"/>
                        </a:rPr>
                        <a:t>Prepare final documentation and presentation</a:t>
                      </a:r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530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555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148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5550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836861" y="-719664"/>
            <a:ext cx="4371978" cy="4371978"/>
          </a:xfrm>
          <a:custGeom>
            <a:avLst/>
            <a:gdLst/>
            <a:ahLst/>
            <a:cxnLst/>
            <a:rect r="r" b="b" t="t" l="l"/>
            <a:pathLst>
              <a:path h="4371978" w="4371978">
                <a:moveTo>
                  <a:pt x="0" y="0"/>
                </a:moveTo>
                <a:lnTo>
                  <a:pt x="4371978" y="0"/>
                </a:lnTo>
                <a:lnTo>
                  <a:pt x="4371978" y="4371977"/>
                </a:lnTo>
                <a:lnTo>
                  <a:pt x="0" y="4371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11022">
            <a:off x="14434699" y="6513549"/>
            <a:ext cx="3615860" cy="3300294"/>
          </a:xfrm>
          <a:custGeom>
            <a:avLst/>
            <a:gdLst/>
            <a:ahLst/>
            <a:cxnLst/>
            <a:rect r="r" b="b" t="t" l="l"/>
            <a:pathLst>
              <a:path h="3300294" w="3615860">
                <a:moveTo>
                  <a:pt x="0" y="0"/>
                </a:moveTo>
                <a:lnTo>
                  <a:pt x="3615860" y="0"/>
                </a:lnTo>
                <a:lnTo>
                  <a:pt x="3615860" y="3300294"/>
                </a:lnTo>
                <a:lnTo>
                  <a:pt x="0" y="3300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14201" y="271936"/>
            <a:ext cx="12031225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9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Testing, Deployment &amp; Documentation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3940" y="6159015"/>
            <a:ext cx="7113508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AI Model Performance &amp;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3940" y="6774330"/>
            <a:ext cx="1036403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Validated disease prediction accuracy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Tested symptom analysis and prediction workflows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Performed API and authentication testing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Verified patient, doctor, and admin workflows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Checked system reliability and error handling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Outcome: Improved prediction reliability and system quality.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9508" y="5076825"/>
            <a:ext cx="6715601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Testing &amp; AI Model Validation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670" r="-2201" b="-470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69824">
            <a:off x="12621343" y="3061207"/>
            <a:ext cx="5163583" cy="7189799"/>
          </a:xfrm>
          <a:custGeom>
            <a:avLst/>
            <a:gdLst/>
            <a:ahLst/>
            <a:cxnLst/>
            <a:rect r="r" b="b" t="t" l="l"/>
            <a:pathLst>
              <a:path h="7189799" w="5163583">
                <a:moveTo>
                  <a:pt x="0" y="0"/>
                </a:moveTo>
                <a:lnTo>
                  <a:pt x="5163584" y="0"/>
                </a:lnTo>
                <a:lnTo>
                  <a:pt x="5163584" y="7189799"/>
                </a:lnTo>
                <a:lnTo>
                  <a:pt x="0" y="71897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60263">
            <a:off x="10565884" y="248947"/>
            <a:ext cx="3151579" cy="4186881"/>
          </a:xfrm>
          <a:custGeom>
            <a:avLst/>
            <a:gdLst/>
            <a:ahLst/>
            <a:cxnLst/>
            <a:rect r="r" b="b" t="t" l="l"/>
            <a:pathLst>
              <a:path h="4186881" w="3151579">
                <a:moveTo>
                  <a:pt x="0" y="0"/>
                </a:moveTo>
                <a:lnTo>
                  <a:pt x="3151580" y="0"/>
                </a:lnTo>
                <a:lnTo>
                  <a:pt x="3151580" y="4186881"/>
                </a:lnTo>
                <a:lnTo>
                  <a:pt x="0" y="41868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67933" y="1460486"/>
            <a:ext cx="8185127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9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Platform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949829"/>
            <a:ext cx="11112974" cy="490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Healthcare Workflow &amp; Dashboard Optimization</a:t>
            </a:r>
          </a:p>
          <a:p>
            <a:pPr algn="l">
              <a:lnSpc>
                <a:spcPts val="3519"/>
              </a:lnSpc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Workflow:</a:t>
            </a:r>
          </a:p>
          <a:p>
            <a:pPr algn="l">
              <a:lnSpc>
                <a:spcPts val="3519"/>
              </a:lnSpc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Login → Symptoms → Analysis → Prediction → Recommendations → Reports</a:t>
            </a:r>
          </a:p>
          <a:p>
            <a:pPr algn="l" marL="672471" indent="-336236" lvl="1">
              <a:lnSpc>
                <a:spcPts val="3519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Optimized user workflows</a:t>
            </a:r>
          </a:p>
          <a:p>
            <a:pPr algn="l" marL="672471" indent="-336236" lvl="1">
              <a:lnSpc>
                <a:spcPts val="3519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Improved dashboard responsiveness</a:t>
            </a:r>
          </a:p>
          <a:p>
            <a:pPr algn="l" marL="672471" indent="-336236" lvl="1">
              <a:lnSpc>
                <a:spcPts val="3519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Enhanced prediction result visualization</a:t>
            </a:r>
          </a:p>
          <a:p>
            <a:pPr algn="l" marL="672471" indent="-336236" lvl="1">
              <a:lnSpc>
                <a:spcPts val="3519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Improved recommendations and health reports</a:t>
            </a:r>
          </a:p>
          <a:p>
            <a:pPr algn="l" marL="672471" indent="-336236" lvl="1">
              <a:lnSpc>
                <a:spcPts val="3519"/>
              </a:lnSpc>
              <a:buFont typeface="Arial"/>
              <a:buChar char="•"/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Verified smooth navigation across user roles</a:t>
            </a:r>
          </a:p>
          <a:p>
            <a:pPr algn="l">
              <a:lnSpc>
                <a:spcPts val="3519"/>
              </a:lnSpc>
            </a:pPr>
            <a:r>
              <a:rPr lang="en-US" sz="311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Outcome: Better usability and healthcare experience.</a:t>
            </a:r>
          </a:p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670" r="-2201" b="-470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0561" y="175454"/>
            <a:ext cx="2669455" cy="2518995"/>
          </a:xfrm>
          <a:custGeom>
            <a:avLst/>
            <a:gdLst/>
            <a:ahLst/>
            <a:cxnLst/>
            <a:rect r="r" b="b" t="t" l="l"/>
            <a:pathLst>
              <a:path h="2518995" w="2669455">
                <a:moveTo>
                  <a:pt x="0" y="0"/>
                </a:moveTo>
                <a:lnTo>
                  <a:pt x="2669455" y="0"/>
                </a:lnTo>
                <a:lnTo>
                  <a:pt x="2669455" y="2518995"/>
                </a:lnTo>
                <a:lnTo>
                  <a:pt x="0" y="25189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44491">
            <a:off x="-18683" y="7216739"/>
            <a:ext cx="1859932" cy="2025669"/>
          </a:xfrm>
          <a:custGeom>
            <a:avLst/>
            <a:gdLst/>
            <a:ahLst/>
            <a:cxnLst/>
            <a:rect r="r" b="b" t="t" l="l"/>
            <a:pathLst>
              <a:path h="2025669" w="1859932">
                <a:moveTo>
                  <a:pt x="0" y="0"/>
                </a:moveTo>
                <a:lnTo>
                  <a:pt x="1859932" y="0"/>
                </a:lnTo>
                <a:lnTo>
                  <a:pt x="1859932" y="2025669"/>
                </a:lnTo>
                <a:lnTo>
                  <a:pt x="0" y="20256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01671" y="1085850"/>
            <a:ext cx="8299891" cy="382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Production Deployment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Containerized application using Docker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Deployed Next.js frontend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Deployed FastAPI backend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Configured MySQL database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Configured Nginx reverse proxy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Tested live API and frontend connectivity</a:t>
            </a:r>
          </a:p>
          <a:p>
            <a:pPr algn="l" marL="647700" indent="-323850" lvl="1">
              <a:lnSpc>
                <a:spcPts val="306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Outcome: Successfully achieved a live working deployment.</a:t>
            </a:r>
          </a:p>
          <a:p>
            <a:pPr algn="l">
              <a:lnSpc>
                <a:spcPts val="306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961142" y="251654"/>
            <a:ext cx="12627833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sz="39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Deployment &amp; Cloud Environment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5914" y="4916805"/>
            <a:ext cx="8498086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9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Documentation, Results &amp; Final Demo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671" y="6163755"/>
            <a:ext cx="15157629" cy="264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Final Outcomes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Completed Milestone 4 testing and deployment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Validated AI prediction and platform workflows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Prepared project documentation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Prepared final presentation and demonstration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Demonstrated complete MedAssist AI platform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Final Outcome</a:t>
            </a:r>
          </a:p>
          <a:p>
            <a:pPr algn="l" marL="558001" indent="-279001" lvl="1">
              <a:lnSpc>
                <a:spcPts val="2636"/>
              </a:lnSpc>
              <a:buFont typeface="Arial"/>
              <a:buChar char="•"/>
            </a:pPr>
            <a:r>
              <a:rPr lang="en-US" sz="2584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A tested, deployed, and documented AI-powered healthcare platform ready for final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670" r="-2201" b="-470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72622">
            <a:off x="13715550" y="-2222060"/>
            <a:ext cx="4332985" cy="5307666"/>
          </a:xfrm>
          <a:custGeom>
            <a:avLst/>
            <a:gdLst/>
            <a:ahLst/>
            <a:cxnLst/>
            <a:rect r="r" b="b" t="t" l="l"/>
            <a:pathLst>
              <a:path h="5307666" w="4332985">
                <a:moveTo>
                  <a:pt x="0" y="0"/>
                </a:moveTo>
                <a:lnTo>
                  <a:pt x="4332985" y="0"/>
                </a:lnTo>
                <a:lnTo>
                  <a:pt x="4332985" y="5307665"/>
                </a:lnTo>
                <a:lnTo>
                  <a:pt x="0" y="53076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49083">
            <a:off x="1673730" y="573535"/>
            <a:ext cx="9053079" cy="2472479"/>
          </a:xfrm>
          <a:custGeom>
            <a:avLst/>
            <a:gdLst/>
            <a:ahLst/>
            <a:cxnLst/>
            <a:rect r="r" b="b" t="t" l="l"/>
            <a:pathLst>
              <a:path h="2472479" w="9053079">
                <a:moveTo>
                  <a:pt x="0" y="0"/>
                </a:moveTo>
                <a:lnTo>
                  <a:pt x="9053078" y="0"/>
                </a:lnTo>
                <a:lnTo>
                  <a:pt x="9053078" y="2472479"/>
                </a:lnTo>
                <a:lnTo>
                  <a:pt x="0" y="2472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79394">
            <a:off x="11992639" y="339582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9" y="0"/>
                </a:lnTo>
                <a:lnTo>
                  <a:pt x="4054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14257">
            <a:off x="-192144" y="279357"/>
            <a:ext cx="2867155" cy="4085325"/>
          </a:xfrm>
          <a:custGeom>
            <a:avLst/>
            <a:gdLst/>
            <a:ahLst/>
            <a:cxnLst/>
            <a:rect r="r" b="b" t="t" l="l"/>
            <a:pathLst>
              <a:path h="4085325" w="2867155">
                <a:moveTo>
                  <a:pt x="0" y="0"/>
                </a:moveTo>
                <a:lnTo>
                  <a:pt x="2867155" y="0"/>
                </a:lnTo>
                <a:lnTo>
                  <a:pt x="2867155" y="4085325"/>
                </a:lnTo>
                <a:lnTo>
                  <a:pt x="0" y="40853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289701">
            <a:off x="10640451" y="-493877"/>
            <a:ext cx="1904308" cy="3273030"/>
          </a:xfrm>
          <a:custGeom>
            <a:avLst/>
            <a:gdLst/>
            <a:ahLst/>
            <a:cxnLst/>
            <a:rect r="r" b="b" t="t" l="l"/>
            <a:pathLst>
              <a:path h="3273030" w="1904308">
                <a:moveTo>
                  <a:pt x="0" y="0"/>
                </a:moveTo>
                <a:lnTo>
                  <a:pt x="1904308" y="0"/>
                </a:lnTo>
                <a:lnTo>
                  <a:pt x="1904308" y="3273030"/>
                </a:lnTo>
                <a:lnTo>
                  <a:pt x="0" y="32730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68300">
            <a:off x="13834896" y="7547242"/>
            <a:ext cx="4927130" cy="3422116"/>
          </a:xfrm>
          <a:custGeom>
            <a:avLst/>
            <a:gdLst/>
            <a:ahLst/>
            <a:cxnLst/>
            <a:rect r="r" b="b" t="t" l="l"/>
            <a:pathLst>
              <a:path h="3422116" w="4927130">
                <a:moveTo>
                  <a:pt x="0" y="0"/>
                </a:moveTo>
                <a:lnTo>
                  <a:pt x="4927130" y="0"/>
                </a:lnTo>
                <a:lnTo>
                  <a:pt x="4927130" y="3422116"/>
                </a:lnTo>
                <a:lnTo>
                  <a:pt x="0" y="34221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238750"/>
            <a:ext cx="12236760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3000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MedAssist AI — Live Deployment</a:t>
            </a:r>
          </a:p>
          <a:p>
            <a:pPr algn="l">
              <a:lnSpc>
                <a:spcPts val="2640"/>
              </a:lnSpc>
            </a:pPr>
          </a:p>
          <a:p>
            <a:pPr algn="l" marL="647700" indent="-323850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✅ Web Application: </a:t>
            </a:r>
            <a:r>
              <a:rPr lang="en-US" sz="3000" u="sng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  <a:hlinkClick r:id="rId15" tooltip="http://18.61.211.177"/>
              </a:rPr>
              <a:t>http://18.61.211.177/</a:t>
            </a:r>
          </a:p>
          <a:p>
            <a:pPr algn="l" marL="647700" indent="-323850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✅ API Health Check: </a:t>
            </a:r>
            <a:r>
              <a:rPr lang="en-US" sz="3000" u="sng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  <a:hlinkClick r:id="rId16" tooltip="http://18.61.211.177/health"/>
              </a:rPr>
              <a:t>http://18.61.211.177/health</a:t>
            </a:r>
          </a:p>
          <a:p>
            <a:pPr algn="l" marL="647700" indent="-323850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✅ Interactive API Docs: </a:t>
            </a:r>
            <a:r>
              <a:rPr lang="en-US" sz="3000" u="sng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  <a:hlinkClick r:id="rId17" tooltip="http://18.61.211.177/api/docs"/>
              </a:rPr>
              <a:t>http://18.61.211.177/api/docs</a:t>
            </a:r>
          </a:p>
          <a:p>
            <a:pPr algn="l" marL="647700" indent="-323850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✅ Symptoms API: </a:t>
            </a:r>
            <a:r>
              <a:rPr lang="en-US" sz="3000" u="sng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  <a:hlinkClick r:id="rId18" tooltip="http://18.61.211.177/api/v1/symptoms"/>
              </a:rPr>
              <a:t>http://18.61.211.177/api/v1/symptoms</a:t>
            </a:r>
          </a:p>
          <a:p>
            <a:pPr algn="l" marL="647700" indent="-323850" lvl="1">
              <a:lnSpc>
                <a:spcPts val="2640"/>
              </a:lnSpc>
              <a:buFont typeface="Arial"/>
              <a:buChar char="•"/>
            </a:pPr>
            <a:r>
              <a:rPr lang="en-US" sz="3000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✅ 190 Symptoms Available Live</a:t>
            </a:r>
          </a:p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41433" y="1274852"/>
            <a:ext cx="8954036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414370"/>
                </a:solidFill>
                <a:latin typeface="Bree Serif"/>
                <a:ea typeface="Bree Serif"/>
                <a:cs typeface="Bree Serif"/>
                <a:sym typeface="Bree Serif"/>
              </a:rPr>
              <a:t>Deployment Results &amp; Live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DAHU5I9WawY</dc:identifier>
  <dcterms:modified xsi:type="dcterms:W3CDTF">2011-08-01T06:04:30Z</dcterms:modified>
  <cp:revision>1</cp:revision>
  <dc:title>Medical Symptom Analysis &amp; Disease Prediction System</dc:title>
</cp:coreProperties>
</file>