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Canva Sans" charset="1" panose="020B0503030501040103"/>
      <p:regular r:id="rId13"/>
    </p:embeddedFont>
    <p:embeddedFont>
      <p:font typeface="Canva Sans Bold" charset="1" panose="020B0803030501040103"/>
      <p:regular r:id="rId14"/>
    </p:embeddedFont>
    <p:embeddedFont>
      <p:font typeface="Times New Roman Bold" charset="1" panose="02020803070505020304"/>
      <p:regular r:id="rId15"/>
    </p:embeddedFont>
    <p:embeddedFont>
      <p:font typeface="Hero" charset="1" panose="00000500000000000000"/>
      <p:regular r:id="rId16"/>
    </p:embeddedFont>
    <p:embeddedFont>
      <p:font typeface="Antonio Ultra-Bold" charset="1" panose="02000803000000000000"/>
      <p:regular r:id="rId17"/>
    </p:embeddedFont>
    <p:embeddedFont>
      <p:font typeface="Times New Roman" charset="1" panose="02020603050405020304"/>
      <p:regular r:id="rId18"/>
    </p:embeddedFont>
    <p:embeddedFont>
      <p:font typeface="Hero Bold" charset="1" panose="000005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8.svg" Type="http://schemas.openxmlformats.org/officeDocument/2006/relationships/image"/><Relationship Id="rId4" Target="../media/image2.png" Type="http://schemas.openxmlformats.org/officeDocument/2006/relationships/image"/><Relationship Id="rId5" Target="../media/image3.svg" Type="http://schemas.openxmlformats.org/officeDocument/2006/relationships/image"/><Relationship Id="rId6" Target="../media/image9.png" Type="http://schemas.openxmlformats.org/officeDocument/2006/relationships/image"/><Relationship Id="rId7" Target="../media/image10.png" Type="http://schemas.openxmlformats.org/officeDocument/2006/relationships/image"/><Relationship Id="rId8" Target="../media/image11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1.png" Type="http://schemas.openxmlformats.org/officeDocument/2006/relationships/image"/><Relationship Id="rId8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Relationship Id="rId5" Target="../media/image15.png" Type="http://schemas.openxmlformats.org/officeDocument/2006/relationships/image"/><Relationship Id="rId6" Target="../media/image1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7.png" Type="http://schemas.openxmlformats.org/officeDocument/2006/relationships/image"/><Relationship Id="rId3" Target="../media/image1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9.png" Type="http://schemas.openxmlformats.org/officeDocument/2006/relationships/image"/><Relationship Id="rId3" Target="../media/image20.png" Type="http://schemas.openxmlformats.org/officeDocument/2006/relationships/image"/><Relationship Id="rId4" Target="../media/image2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54E9D">
                <a:alpha val="100000"/>
              </a:srgbClr>
            </a:gs>
            <a:gs pos="100000">
              <a:srgbClr val="1231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385668" y="-2016955"/>
            <a:ext cx="10287000" cy="14320911"/>
            <a:chOff x="0" y="0"/>
            <a:chExt cx="660400" cy="91936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919367"/>
            </a:xfrm>
            <a:custGeom>
              <a:avLst/>
              <a:gdLst/>
              <a:ahLst/>
              <a:cxnLst/>
              <a:rect r="r" b="b" t="t" l="l"/>
              <a:pathLst>
                <a:path h="919367" w="660400">
                  <a:moveTo>
                    <a:pt x="220252" y="900298"/>
                  </a:moveTo>
                  <a:cubicBezTo>
                    <a:pt x="254109" y="911812"/>
                    <a:pt x="292600" y="919367"/>
                    <a:pt x="330378" y="919367"/>
                  </a:cubicBezTo>
                  <a:cubicBezTo>
                    <a:pt x="368157" y="919367"/>
                    <a:pt x="404509" y="912890"/>
                    <a:pt x="438009" y="901376"/>
                  </a:cubicBezTo>
                  <a:cubicBezTo>
                    <a:pt x="438723" y="901017"/>
                    <a:pt x="439435" y="901017"/>
                    <a:pt x="440148" y="900657"/>
                  </a:cubicBezTo>
                  <a:cubicBezTo>
                    <a:pt x="565955" y="854602"/>
                    <a:pt x="658618" y="732988"/>
                    <a:pt x="660400" y="5884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88061"/>
                  </a:lnTo>
                  <a:cubicBezTo>
                    <a:pt x="1782" y="733707"/>
                    <a:pt x="93019" y="855322"/>
                    <a:pt x="220252" y="900298"/>
                  </a:cubicBez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0400" cy="830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5400000">
            <a:off x="-3159955" y="-2326673"/>
            <a:ext cx="10287000" cy="14320911"/>
            <a:chOff x="0" y="0"/>
            <a:chExt cx="660400" cy="9193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60400" cy="919367"/>
            </a:xfrm>
            <a:custGeom>
              <a:avLst/>
              <a:gdLst/>
              <a:ahLst/>
              <a:cxnLst/>
              <a:rect r="r" b="b" t="t" l="l"/>
              <a:pathLst>
                <a:path h="919367" w="660400">
                  <a:moveTo>
                    <a:pt x="220252" y="900298"/>
                  </a:moveTo>
                  <a:cubicBezTo>
                    <a:pt x="254109" y="911812"/>
                    <a:pt x="292600" y="919367"/>
                    <a:pt x="330378" y="919367"/>
                  </a:cubicBezTo>
                  <a:cubicBezTo>
                    <a:pt x="368157" y="919367"/>
                    <a:pt x="404509" y="912890"/>
                    <a:pt x="438009" y="901376"/>
                  </a:cubicBezTo>
                  <a:cubicBezTo>
                    <a:pt x="438723" y="901017"/>
                    <a:pt x="439435" y="901017"/>
                    <a:pt x="440148" y="900657"/>
                  </a:cubicBezTo>
                  <a:cubicBezTo>
                    <a:pt x="565955" y="854602"/>
                    <a:pt x="658618" y="732988"/>
                    <a:pt x="660400" y="5884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588061"/>
                  </a:lnTo>
                  <a:cubicBezTo>
                    <a:pt x="1782" y="733707"/>
                    <a:pt x="93019" y="855322"/>
                    <a:pt x="220252" y="900298"/>
                  </a:cubicBezTo>
                  <a:close/>
                </a:path>
              </a:pathLst>
            </a:custGeom>
            <a:solidFill>
              <a:srgbClr val="254E9D">
                <a:alpha val="7843"/>
              </a:srgbClr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660400" cy="83046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1974650" y="1314697"/>
            <a:ext cx="8651599" cy="9391152"/>
          </a:xfrm>
          <a:custGeom>
            <a:avLst/>
            <a:gdLst/>
            <a:ahLst/>
            <a:cxnLst/>
            <a:rect r="r" b="b" t="t" l="l"/>
            <a:pathLst>
              <a:path h="9391152" w="8651599">
                <a:moveTo>
                  <a:pt x="0" y="0"/>
                </a:moveTo>
                <a:lnTo>
                  <a:pt x="8651599" y="0"/>
                </a:lnTo>
                <a:lnTo>
                  <a:pt x="8651599" y="9391152"/>
                </a:lnTo>
                <a:lnTo>
                  <a:pt x="0" y="93911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328243" y="-41787"/>
            <a:ext cx="887151" cy="698631"/>
          </a:xfrm>
          <a:custGeom>
            <a:avLst/>
            <a:gdLst/>
            <a:ahLst/>
            <a:cxnLst/>
            <a:rect r="r" b="b" t="t" l="l"/>
            <a:pathLst>
              <a:path h="698631" w="887151">
                <a:moveTo>
                  <a:pt x="0" y="0"/>
                </a:moveTo>
                <a:lnTo>
                  <a:pt x="887151" y="0"/>
                </a:lnTo>
                <a:lnTo>
                  <a:pt x="887151" y="698632"/>
                </a:lnTo>
                <a:lnTo>
                  <a:pt x="0" y="698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1334146" y="4484467"/>
            <a:ext cx="887151" cy="698631"/>
          </a:xfrm>
          <a:custGeom>
            <a:avLst/>
            <a:gdLst/>
            <a:ahLst/>
            <a:cxnLst/>
            <a:rect r="r" b="b" t="t" l="l"/>
            <a:pathLst>
              <a:path h="698631" w="88715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1" id="11"/>
          <p:cNvGrpSpPr/>
          <p:nvPr/>
        </p:nvGrpSpPr>
        <p:grpSpPr>
          <a:xfrm rot="0">
            <a:off x="7189782" y="2383536"/>
            <a:ext cx="7282577" cy="7887369"/>
            <a:chOff x="0" y="0"/>
            <a:chExt cx="1918045" cy="20773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918045" cy="2077332"/>
            </a:xfrm>
            <a:custGeom>
              <a:avLst/>
              <a:gdLst/>
              <a:ahLst/>
              <a:cxnLst/>
              <a:rect r="r" b="b" t="t" l="l"/>
              <a:pathLst>
                <a:path h="2077332" w="1918045">
                  <a:moveTo>
                    <a:pt x="0" y="0"/>
                  </a:moveTo>
                  <a:lnTo>
                    <a:pt x="1918045" y="0"/>
                  </a:lnTo>
                  <a:lnTo>
                    <a:pt x="1918045" y="2077332"/>
                  </a:lnTo>
                  <a:lnTo>
                    <a:pt x="0" y="2077332"/>
                  </a:ln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57150"/>
              <a:ext cx="1918045" cy="213448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👤 </a:t>
              </a: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Patient Dashboard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Check symptoms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View reports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Manage profile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👨‍⚕️</a:t>
              </a: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Doctor Dashboard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</a:t>
              </a: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View patient details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Give treatment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</a:t>
              </a: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Manage appointments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</a:t>
              </a: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🏥 </a:t>
              </a: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Healthcare Provider Dashboard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</a:t>
              </a: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Manage patient record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                     </a:t>
              </a: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Monitor healthcare services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👨‍💼</a:t>
              </a:r>
              <a:r>
                <a:rPr lang="en-US" sz="2799" b="true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 Admin Dashboard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Manage users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   </a:t>
              </a: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Monitor system</a:t>
              </a:r>
            </a:p>
            <a:p>
              <a:pPr algn="ctr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 </a:t>
              </a:r>
              <a:r>
                <a:rPr lang="en-US" sz="27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View analytics</a:t>
              </a:r>
            </a:p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137827" y="656845"/>
            <a:ext cx="1342555" cy="1315704"/>
          </a:xfrm>
          <a:custGeom>
            <a:avLst/>
            <a:gdLst/>
            <a:ahLst/>
            <a:cxnLst/>
            <a:rect r="r" b="b" t="t" l="l"/>
            <a:pathLst>
              <a:path h="1315704" w="1342555">
                <a:moveTo>
                  <a:pt x="0" y="0"/>
                </a:moveTo>
                <a:lnTo>
                  <a:pt x="1342556" y="0"/>
                </a:lnTo>
                <a:lnTo>
                  <a:pt x="1342556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0" y="2755011"/>
            <a:ext cx="8654421" cy="6704388"/>
          </a:xfrm>
          <a:custGeom>
            <a:avLst/>
            <a:gdLst/>
            <a:ahLst/>
            <a:cxnLst/>
            <a:rect r="r" b="b" t="t" l="l"/>
            <a:pathLst>
              <a:path h="6704388" w="8654421">
                <a:moveTo>
                  <a:pt x="0" y="0"/>
                </a:moveTo>
                <a:lnTo>
                  <a:pt x="8654421" y="0"/>
                </a:lnTo>
                <a:lnTo>
                  <a:pt x="8654421" y="6704388"/>
                </a:lnTo>
                <a:lnTo>
                  <a:pt x="0" y="67043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56899" t="-15034" r="-56185" b="-16651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0" y="1076325"/>
            <a:ext cx="12866258" cy="13072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92"/>
              </a:lnSpc>
            </a:pPr>
            <a:r>
              <a:rPr lang="en-US" sz="4800" b="true">
                <a:solidFill>
                  <a:srgbClr val="254E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MEDASSIST AI: MEDICAL SYMPTOM ANALYSIS &amp; DISEASE PREDICTION SYSTE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54E9D">
                <a:alpha val="100000"/>
              </a:srgbClr>
            </a:gs>
            <a:gs pos="100000">
              <a:srgbClr val="1231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92356" y="-5389014"/>
            <a:ext cx="12736762" cy="15676014"/>
            <a:chOff x="0" y="0"/>
            <a:chExt cx="6604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660400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1260736" y="2122777"/>
            <a:ext cx="6368381" cy="8164223"/>
            <a:chOff x="0" y="0"/>
            <a:chExt cx="1677269" cy="21502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7269" cy="2150248"/>
            </a:xfrm>
            <a:custGeom>
              <a:avLst/>
              <a:gdLst/>
              <a:ahLst/>
              <a:cxnLst/>
              <a:rect r="r" b="b" t="t" l="l"/>
              <a:pathLst>
                <a:path h="2150248" w="1677269">
                  <a:moveTo>
                    <a:pt x="0" y="0"/>
                  </a:moveTo>
                  <a:lnTo>
                    <a:pt x="1677269" y="0"/>
                  </a:lnTo>
                  <a:lnTo>
                    <a:pt x="1677269" y="2150248"/>
                  </a:lnTo>
                  <a:lnTo>
                    <a:pt x="0" y="2150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77269" cy="2188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8898512" y="903545"/>
            <a:ext cx="8172896" cy="51815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6"/>
              </a:lnSpc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Objective</a:t>
            </a:r>
          </a:p>
          <a:p>
            <a:pPr algn="l" marL="431399" indent="-215700" lvl="1">
              <a:lnSpc>
                <a:spcPts val="3776"/>
              </a:lnSpc>
              <a:buFont typeface="Arial"/>
              <a:buChar char="•"/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Provides a personalized healthcare dashboard for patients.</a:t>
            </a:r>
          </a:p>
          <a:p>
            <a:pPr algn="l" marL="431399" indent="-215700" lvl="1">
              <a:lnSpc>
                <a:spcPts val="3776"/>
              </a:lnSpc>
              <a:buFont typeface="Arial"/>
              <a:buChar char="•"/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Displays health information in one place.</a:t>
            </a:r>
          </a:p>
          <a:p>
            <a:pPr algn="l" marL="431399" indent="-215700" lvl="1">
              <a:lnSpc>
                <a:spcPts val="3776"/>
              </a:lnSpc>
              <a:buFont typeface="Arial"/>
              <a:buChar char="•"/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Easy navigation for medical services.</a:t>
            </a:r>
          </a:p>
          <a:p>
            <a:pPr algn="l">
              <a:lnSpc>
                <a:spcPts val="3776"/>
              </a:lnSpc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Features</a:t>
            </a:r>
          </a:p>
          <a:p>
            <a:pPr algn="l" marL="431399" indent="-215700" lvl="1">
              <a:lnSpc>
                <a:spcPts val="3776"/>
              </a:lnSpc>
              <a:buFont typeface="Arial"/>
              <a:buChar char="•"/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Welcome Dashboard</a:t>
            </a:r>
          </a:p>
          <a:p>
            <a:pPr algn="l" marL="431399" indent="-215700" lvl="1">
              <a:lnSpc>
                <a:spcPts val="3776"/>
              </a:lnSpc>
              <a:buFont typeface="Arial"/>
              <a:buChar char="•"/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Health Score</a:t>
            </a:r>
          </a:p>
          <a:p>
            <a:pPr algn="l" marL="431399" indent="-215700" lvl="1">
              <a:lnSpc>
                <a:spcPts val="3776"/>
              </a:lnSpc>
              <a:buFont typeface="Arial"/>
              <a:buChar char="•"/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Search Bar</a:t>
            </a:r>
          </a:p>
          <a:p>
            <a:pPr algn="l" marL="431399" indent="-215700" lvl="1">
              <a:lnSpc>
                <a:spcPts val="3776"/>
              </a:lnSpc>
              <a:buFont typeface="Arial"/>
              <a:buChar char="•"/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Quick Access Buttons</a:t>
            </a:r>
          </a:p>
          <a:p>
            <a:pPr algn="l" marL="431399" indent="-215700" lvl="1">
              <a:lnSpc>
                <a:spcPts val="3776"/>
              </a:lnSpc>
              <a:buFont typeface="Arial"/>
              <a:buChar char="•"/>
            </a:pPr>
            <a:r>
              <a:rPr lang="en-US" sz="1998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User Profile</a:t>
            </a:r>
          </a:p>
          <a:p>
            <a:pPr algn="l">
              <a:lnSpc>
                <a:spcPts val="3432"/>
              </a:lnSpc>
            </a:pPr>
          </a:p>
        </p:txBody>
      </p:sp>
      <p:grpSp>
        <p:nvGrpSpPr>
          <p:cNvPr name="Group 9" id="9"/>
          <p:cNvGrpSpPr/>
          <p:nvPr/>
        </p:nvGrpSpPr>
        <p:grpSpPr>
          <a:xfrm rot="-10800000">
            <a:off x="17629117" y="2800473"/>
            <a:ext cx="658883" cy="4686054"/>
            <a:chOff x="0" y="0"/>
            <a:chExt cx="173533" cy="123418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73533" cy="1234187"/>
            </a:xfrm>
            <a:custGeom>
              <a:avLst/>
              <a:gdLst/>
              <a:ahLst/>
              <a:cxnLst/>
              <a:rect r="r" b="b" t="t" l="l"/>
              <a:pathLst>
                <a:path h="1234187" w="173533">
                  <a:moveTo>
                    <a:pt x="0" y="0"/>
                  </a:moveTo>
                  <a:lnTo>
                    <a:pt x="173533" y="0"/>
                  </a:lnTo>
                  <a:lnTo>
                    <a:pt x="17353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true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173533" cy="12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-10800000">
            <a:off x="-514350" y="8743950"/>
            <a:ext cx="10341238" cy="954108"/>
            <a:chOff x="0" y="0"/>
            <a:chExt cx="2723618" cy="251288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723618" cy="251288"/>
            </a:xfrm>
            <a:custGeom>
              <a:avLst/>
              <a:gdLst/>
              <a:ahLst/>
              <a:cxnLst/>
              <a:rect r="r" b="b" t="t" l="l"/>
              <a:pathLst>
                <a:path h="251288" w="2723618">
                  <a:moveTo>
                    <a:pt x="0" y="0"/>
                  </a:moveTo>
                  <a:lnTo>
                    <a:pt x="2723618" y="0"/>
                  </a:lnTo>
                  <a:lnTo>
                    <a:pt x="272361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true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38100"/>
              <a:ext cx="2723618" cy="289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16588022" y="0"/>
            <a:ext cx="1342555" cy="1315704"/>
          </a:xfrm>
          <a:custGeom>
            <a:avLst/>
            <a:gdLst/>
            <a:ahLst/>
            <a:cxnLst/>
            <a:rect r="r" b="b" t="t" l="l"/>
            <a:pathLst>
              <a:path h="1315704" w="1342555">
                <a:moveTo>
                  <a:pt x="0" y="0"/>
                </a:moveTo>
                <a:lnTo>
                  <a:pt x="1342556" y="0"/>
                </a:lnTo>
                <a:lnTo>
                  <a:pt x="1342556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7071408" y="9055095"/>
            <a:ext cx="887151" cy="698631"/>
          </a:xfrm>
          <a:custGeom>
            <a:avLst/>
            <a:gdLst/>
            <a:ahLst/>
            <a:cxnLst/>
            <a:rect r="r" b="b" t="t" l="l"/>
            <a:pathLst>
              <a:path h="698631" w="887151">
                <a:moveTo>
                  <a:pt x="0" y="0"/>
                </a:moveTo>
                <a:lnTo>
                  <a:pt x="887151" y="0"/>
                </a:lnTo>
                <a:lnTo>
                  <a:pt x="887151" y="698632"/>
                </a:lnTo>
                <a:lnTo>
                  <a:pt x="0" y="69863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86555" y="545189"/>
            <a:ext cx="8289939" cy="6041174"/>
          </a:xfrm>
          <a:custGeom>
            <a:avLst/>
            <a:gdLst/>
            <a:ahLst/>
            <a:cxnLst/>
            <a:rect r="r" b="b" t="t" l="l"/>
            <a:pathLst>
              <a:path h="6041174" w="8289939">
                <a:moveTo>
                  <a:pt x="0" y="0"/>
                </a:moveTo>
                <a:lnTo>
                  <a:pt x="8289939" y="0"/>
                </a:lnTo>
                <a:lnTo>
                  <a:pt x="8289939" y="6041174"/>
                </a:lnTo>
                <a:lnTo>
                  <a:pt x="0" y="604117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333606" y="5757221"/>
            <a:ext cx="7014631" cy="4846325"/>
          </a:xfrm>
          <a:custGeom>
            <a:avLst/>
            <a:gdLst/>
            <a:ahLst/>
            <a:cxnLst/>
            <a:rect r="r" b="b" t="t" l="l"/>
            <a:pathLst>
              <a:path h="4846325" w="7014631">
                <a:moveTo>
                  <a:pt x="0" y="0"/>
                </a:moveTo>
                <a:lnTo>
                  <a:pt x="7014631" y="0"/>
                </a:lnTo>
                <a:lnTo>
                  <a:pt x="7014631" y="4846325"/>
                </a:lnTo>
                <a:lnTo>
                  <a:pt x="0" y="484632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7727846" y="5963314"/>
            <a:ext cx="7553965" cy="5278964"/>
          </a:xfrm>
          <a:custGeom>
            <a:avLst/>
            <a:gdLst/>
            <a:ahLst/>
            <a:cxnLst/>
            <a:rect r="r" b="b" t="t" l="l"/>
            <a:pathLst>
              <a:path h="5278964" w="7553965">
                <a:moveTo>
                  <a:pt x="0" y="0"/>
                </a:moveTo>
                <a:lnTo>
                  <a:pt x="7553964" y="0"/>
                </a:lnTo>
                <a:lnTo>
                  <a:pt x="7553964" y="5278964"/>
                </a:lnTo>
                <a:lnTo>
                  <a:pt x="0" y="527896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001560" y="61002"/>
            <a:ext cx="7407311" cy="86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254E9D"/>
                </a:solidFill>
                <a:latin typeface="Antonio Ultra-Bold"/>
                <a:ea typeface="Antonio Ultra-Bold"/>
                <a:cs typeface="Antonio Ultra-Bold"/>
                <a:sym typeface="Antonio Ultra-Bold"/>
              </a:rPr>
              <a:t>Patient Dashboard Overview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54E9D">
                <a:alpha val="100000"/>
              </a:srgbClr>
            </a:gs>
            <a:gs pos="100000">
              <a:srgbClr val="1231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726924" y="-2116191"/>
            <a:ext cx="15780458" cy="15676014"/>
            <a:chOff x="0" y="0"/>
            <a:chExt cx="818215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8215" cy="812800"/>
            </a:xfrm>
            <a:custGeom>
              <a:avLst/>
              <a:gdLst/>
              <a:ahLst/>
              <a:cxnLst/>
              <a:rect r="r" b="b" t="t" l="l"/>
              <a:pathLst>
                <a:path h="812800" w="818215">
                  <a:moveTo>
                    <a:pt x="272886" y="793731"/>
                  </a:moveTo>
                  <a:cubicBezTo>
                    <a:pt x="314834" y="805245"/>
                    <a:pt x="362523" y="812800"/>
                    <a:pt x="409328" y="812800"/>
                  </a:cubicBezTo>
                  <a:cubicBezTo>
                    <a:pt x="456135" y="812800"/>
                    <a:pt x="501174" y="806323"/>
                    <a:pt x="542680" y="794809"/>
                  </a:cubicBezTo>
                  <a:cubicBezTo>
                    <a:pt x="543564" y="794450"/>
                    <a:pt x="544447" y="794450"/>
                    <a:pt x="545330" y="794090"/>
                  </a:cubicBezTo>
                  <a:cubicBezTo>
                    <a:pt x="701201" y="748035"/>
                    <a:pt x="816008" y="626421"/>
                    <a:pt x="818215" y="484298"/>
                  </a:cubicBezTo>
                  <a:lnTo>
                    <a:pt x="818215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2208" y="627140"/>
                    <a:pt x="115248" y="748755"/>
                    <a:pt x="272886" y="793731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818215" cy="7239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624102" y="2122777"/>
            <a:ext cx="6368381" cy="8164223"/>
            <a:chOff x="0" y="0"/>
            <a:chExt cx="1677269" cy="2150248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77269" cy="2150248"/>
            </a:xfrm>
            <a:custGeom>
              <a:avLst/>
              <a:gdLst/>
              <a:ahLst/>
              <a:cxnLst/>
              <a:rect r="r" b="b" t="t" l="l"/>
              <a:pathLst>
                <a:path h="2150248" w="1677269">
                  <a:moveTo>
                    <a:pt x="0" y="0"/>
                  </a:moveTo>
                  <a:lnTo>
                    <a:pt x="1677269" y="0"/>
                  </a:lnTo>
                  <a:lnTo>
                    <a:pt x="1677269" y="2150248"/>
                  </a:lnTo>
                  <a:lnTo>
                    <a:pt x="0" y="215024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77269" cy="218834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4373" cy="1234187"/>
            </a:xfrm>
            <a:custGeom>
              <a:avLst/>
              <a:gdLst/>
              <a:ahLst/>
              <a:cxnLst/>
              <a:rect r="r" b="b" t="t" l="l"/>
              <a:pathLst>
                <a:path h="1234187" w="164373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true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9867962" y="4737656"/>
            <a:ext cx="7523058" cy="5497741"/>
            <a:chOff x="0" y="0"/>
            <a:chExt cx="2202648" cy="16096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202648" cy="1609663"/>
            </a:xfrm>
            <a:custGeom>
              <a:avLst/>
              <a:gdLst/>
              <a:ahLst/>
              <a:cxnLst/>
              <a:rect r="r" b="b" t="t" l="l"/>
              <a:pathLst>
                <a:path h="1609663" w="2202648">
                  <a:moveTo>
                    <a:pt x="0" y="0"/>
                  </a:moveTo>
                  <a:lnTo>
                    <a:pt x="2202648" y="0"/>
                  </a:lnTo>
                  <a:lnTo>
                    <a:pt x="2202648" y="1609663"/>
                  </a:lnTo>
                  <a:lnTo>
                    <a:pt x="0" y="1609663"/>
                  </a:lnTo>
                  <a:close/>
                </a:path>
              </a:pathLst>
            </a:custGeom>
            <a:blipFill>
              <a:blip r:embed="rId2"/>
              <a:stretch>
                <a:fillRect l="-26722" t="0" r="-26722" b="0"/>
              </a:stretch>
            </a:blipFill>
          </p:spPr>
        </p:sp>
      </p:grpSp>
      <p:sp>
        <p:nvSpPr>
          <p:cNvPr name="Freeform 13" id="13"/>
          <p:cNvSpPr/>
          <p:nvPr/>
        </p:nvSpPr>
        <p:spPr>
          <a:xfrm flipH="false" flipV="false" rot="0">
            <a:off x="141549" y="9386038"/>
            <a:ext cx="887151" cy="698631"/>
          </a:xfrm>
          <a:custGeom>
            <a:avLst/>
            <a:gdLst/>
            <a:ahLst/>
            <a:cxnLst/>
            <a:rect r="r" b="b" t="t" l="l"/>
            <a:pathLst>
              <a:path h="698631" w="887151">
                <a:moveTo>
                  <a:pt x="0" y="0"/>
                </a:moveTo>
                <a:lnTo>
                  <a:pt x="887151" y="0"/>
                </a:lnTo>
                <a:lnTo>
                  <a:pt x="887151" y="698632"/>
                </a:lnTo>
                <a:lnTo>
                  <a:pt x="0" y="69863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6945445" y="0"/>
            <a:ext cx="1342555" cy="1315704"/>
          </a:xfrm>
          <a:custGeom>
            <a:avLst/>
            <a:gdLst/>
            <a:ahLst/>
            <a:cxnLst/>
            <a:rect r="r" b="b" t="t" l="l"/>
            <a:pathLst>
              <a:path h="1315704" w="1342555">
                <a:moveTo>
                  <a:pt x="0" y="0"/>
                </a:moveTo>
                <a:lnTo>
                  <a:pt x="1342555" y="0"/>
                </a:lnTo>
                <a:lnTo>
                  <a:pt x="1342555" y="1315704"/>
                </a:lnTo>
                <a:lnTo>
                  <a:pt x="0" y="131570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312051" y="0"/>
            <a:ext cx="9252361" cy="6204889"/>
          </a:xfrm>
          <a:custGeom>
            <a:avLst/>
            <a:gdLst/>
            <a:ahLst/>
            <a:cxnLst/>
            <a:rect r="r" b="b" t="t" l="l"/>
            <a:pathLst>
              <a:path h="6204889" w="9252361">
                <a:moveTo>
                  <a:pt x="0" y="0"/>
                </a:moveTo>
                <a:lnTo>
                  <a:pt x="9252361" y="0"/>
                </a:lnTo>
                <a:lnTo>
                  <a:pt x="9252361" y="6204889"/>
                </a:lnTo>
                <a:lnTo>
                  <a:pt x="0" y="620488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10231" t="-2063" r="0" b="-12804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9867962" y="-57150"/>
            <a:ext cx="7348377" cy="4896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b="true" sz="184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Clinical Profile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Displays Blood Group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Height &amp; Weight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Conditions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b="true" sz="184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Health Reports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    View disease prediction reports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Download health reports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b="true" sz="184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Appointments &amp; Notifications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Upcoming appointments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System notifications and alerts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b="true" sz="1848">
                <a:solidFill>
                  <a:srgbClr val="000000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Quick Actions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Symptom Check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 Reports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Book Appointment</a:t>
            </a:r>
          </a:p>
          <a:p>
            <a:pPr algn="ctr">
              <a:lnSpc>
                <a:spcPts val="2588"/>
              </a:lnSpc>
              <a:spcBef>
                <a:spcPct val="0"/>
              </a:spcBef>
            </a:pPr>
            <a:r>
              <a:rPr lang="en-US" sz="1848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Medical History</a:t>
            </a:r>
          </a:p>
        </p:txBody>
      </p:sp>
      <p:sp>
        <p:nvSpPr>
          <p:cNvPr name="Freeform 17" id="17"/>
          <p:cNvSpPr/>
          <p:nvPr/>
        </p:nvSpPr>
        <p:spPr>
          <a:xfrm flipH="false" flipV="false" rot="0">
            <a:off x="312051" y="5230831"/>
            <a:ext cx="9905793" cy="4853839"/>
          </a:xfrm>
          <a:custGeom>
            <a:avLst/>
            <a:gdLst/>
            <a:ahLst/>
            <a:cxnLst/>
            <a:rect r="r" b="b" t="t" l="l"/>
            <a:pathLst>
              <a:path h="4853839" w="9905793">
                <a:moveTo>
                  <a:pt x="0" y="0"/>
                </a:moveTo>
                <a:lnTo>
                  <a:pt x="9905793" y="0"/>
                </a:lnTo>
                <a:lnTo>
                  <a:pt x="9905793" y="4853839"/>
                </a:lnTo>
                <a:lnTo>
                  <a:pt x="0" y="485383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54E9D">
                <a:alpha val="100000"/>
              </a:srgbClr>
            </a:gs>
            <a:gs pos="100000">
              <a:srgbClr val="1231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63049" y="46710"/>
            <a:ext cx="18288000" cy="9662898"/>
            <a:chOff x="0" y="0"/>
            <a:chExt cx="4816593" cy="254496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544961"/>
            </a:xfrm>
            <a:custGeom>
              <a:avLst/>
              <a:gdLst/>
              <a:ahLst/>
              <a:cxnLst/>
              <a:rect r="r" b="b" t="t" l="l"/>
              <a:pathLst>
                <a:path h="2544961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544961"/>
                  </a:lnTo>
                  <a:lnTo>
                    <a:pt x="0" y="2544961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258306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-10800000">
            <a:off x="0" y="2800473"/>
            <a:ext cx="624102" cy="4686054"/>
            <a:chOff x="0" y="0"/>
            <a:chExt cx="164373" cy="123418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64373" cy="1234187"/>
            </a:xfrm>
            <a:custGeom>
              <a:avLst/>
              <a:gdLst/>
              <a:ahLst/>
              <a:cxnLst/>
              <a:rect r="r" b="b" t="t" l="l"/>
              <a:pathLst>
                <a:path h="1234187" w="164373">
                  <a:moveTo>
                    <a:pt x="0" y="0"/>
                  </a:moveTo>
                  <a:lnTo>
                    <a:pt x="164373" y="0"/>
                  </a:lnTo>
                  <a:lnTo>
                    <a:pt x="164373" y="1234187"/>
                  </a:lnTo>
                  <a:lnTo>
                    <a:pt x="0" y="1234187"/>
                  </a:lnTo>
                  <a:close/>
                </a:path>
              </a:pathLst>
            </a:custGeom>
            <a:gradFill rotWithShape="true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164373" cy="127228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2826772" y="-1592251"/>
            <a:ext cx="7717812" cy="9498846"/>
            <a:chOff x="0" y="0"/>
            <a:chExt cx="6604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660400" cy="812800"/>
            </a:xfrm>
            <a:custGeom>
              <a:avLst/>
              <a:gdLst/>
              <a:ahLst/>
              <a:cxnLst/>
              <a:rect r="r" b="b" t="t" l="l"/>
              <a:pathLst>
                <a:path h="812800" w="660400">
                  <a:moveTo>
                    <a:pt x="220252" y="793731"/>
                  </a:moveTo>
                  <a:cubicBezTo>
                    <a:pt x="254109" y="805245"/>
                    <a:pt x="292600" y="812800"/>
                    <a:pt x="330378" y="812800"/>
                  </a:cubicBezTo>
                  <a:cubicBezTo>
                    <a:pt x="368157" y="812800"/>
                    <a:pt x="404509" y="806323"/>
                    <a:pt x="438009" y="794809"/>
                  </a:cubicBezTo>
                  <a:cubicBezTo>
                    <a:pt x="438723" y="794450"/>
                    <a:pt x="439435" y="794450"/>
                    <a:pt x="440148" y="794090"/>
                  </a:cubicBezTo>
                  <a:cubicBezTo>
                    <a:pt x="565955" y="748035"/>
                    <a:pt x="658618" y="626421"/>
                    <a:pt x="660400" y="484298"/>
                  </a:cubicBezTo>
                  <a:lnTo>
                    <a:pt x="660400" y="0"/>
                  </a:lnTo>
                  <a:lnTo>
                    <a:pt x="0" y="0"/>
                  </a:lnTo>
                  <a:lnTo>
                    <a:pt x="0" y="483939"/>
                  </a:lnTo>
                  <a:cubicBezTo>
                    <a:pt x="1782" y="627140"/>
                    <a:pt x="93019" y="748755"/>
                    <a:pt x="220252" y="793731"/>
                  </a:cubicBezTo>
                  <a:close/>
                </a:path>
              </a:pathLst>
            </a:custGeom>
            <a:blipFill>
              <a:blip r:embed="rId2"/>
              <a:stretch>
                <a:fillRect l="-42365" t="0" r="-42365" b="0"/>
              </a:stretch>
            </a:blip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2490193" y="8708791"/>
            <a:ext cx="6519036" cy="954108"/>
            <a:chOff x="0" y="0"/>
            <a:chExt cx="1716948" cy="251288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716948" cy="251288"/>
            </a:xfrm>
            <a:custGeom>
              <a:avLst/>
              <a:gdLst/>
              <a:ahLst/>
              <a:cxnLst/>
              <a:rect r="r" b="b" t="t" l="l"/>
              <a:pathLst>
                <a:path h="251288" w="1716948">
                  <a:moveTo>
                    <a:pt x="0" y="0"/>
                  </a:moveTo>
                  <a:lnTo>
                    <a:pt x="1716948" y="0"/>
                  </a:lnTo>
                  <a:lnTo>
                    <a:pt x="1716948" y="251288"/>
                  </a:lnTo>
                  <a:lnTo>
                    <a:pt x="0" y="251288"/>
                  </a:lnTo>
                  <a:close/>
                </a:path>
              </a:pathLst>
            </a:custGeom>
            <a:gradFill rotWithShape="true">
              <a:gsLst>
                <a:gs pos="0">
                  <a:srgbClr val="254E9D">
                    <a:alpha val="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38100"/>
              <a:ext cx="1716948" cy="2893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-5400000">
            <a:off x="8831949" y="6168763"/>
            <a:ext cx="624102" cy="7612371"/>
            <a:chOff x="0" y="0"/>
            <a:chExt cx="164373" cy="2004904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64373" cy="2004904"/>
            </a:xfrm>
            <a:custGeom>
              <a:avLst/>
              <a:gdLst/>
              <a:ahLst/>
              <a:cxnLst/>
              <a:rect r="r" b="b" t="t" l="l"/>
              <a:pathLst>
                <a:path h="2004904" w="164373">
                  <a:moveTo>
                    <a:pt x="0" y="0"/>
                  </a:moveTo>
                  <a:lnTo>
                    <a:pt x="164373" y="0"/>
                  </a:lnTo>
                  <a:lnTo>
                    <a:pt x="164373" y="2004904"/>
                  </a:lnTo>
                  <a:lnTo>
                    <a:pt x="0" y="2004904"/>
                  </a:lnTo>
                  <a:close/>
                </a:path>
              </a:pathLst>
            </a:custGeom>
            <a:gradFill rotWithShape="true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path path="circle">
                <a:fillToRect l="50000" r="50000" t="50000" b="50000"/>
              </a:path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38100"/>
              <a:ext cx="164373" cy="204300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72794" y="9258300"/>
            <a:ext cx="451308" cy="451308"/>
            <a:chOff x="0" y="0"/>
            <a:chExt cx="812800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803046" y="9293616"/>
            <a:ext cx="451308" cy="451308"/>
            <a:chOff x="0" y="0"/>
            <a:chExt cx="812800" cy="81280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435329" y="9258300"/>
            <a:ext cx="451308" cy="451308"/>
            <a:chOff x="0" y="0"/>
            <a:chExt cx="812800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254E9D">
                    <a:alpha val="100000"/>
                  </a:srgbClr>
                </a:gs>
                <a:gs pos="100000">
                  <a:srgbClr val="12316D">
                    <a:alpha val="100000"/>
                  </a:srgbClr>
                </a:gs>
              </a:gsLst>
              <a:lin ang="540000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-263049" y="575286"/>
            <a:ext cx="887151" cy="698631"/>
          </a:xfrm>
          <a:custGeom>
            <a:avLst/>
            <a:gdLst/>
            <a:ahLst/>
            <a:cxnLst/>
            <a:rect r="r" b="b" t="t" l="l"/>
            <a:pathLst>
              <a:path h="698631" w="887151">
                <a:moveTo>
                  <a:pt x="0" y="0"/>
                </a:moveTo>
                <a:lnTo>
                  <a:pt x="887151" y="0"/>
                </a:lnTo>
                <a:lnTo>
                  <a:pt x="887151" y="698631"/>
                </a:lnTo>
                <a:lnTo>
                  <a:pt x="0" y="698631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0" y="2677549"/>
            <a:ext cx="8068257" cy="5908317"/>
          </a:xfrm>
          <a:custGeom>
            <a:avLst/>
            <a:gdLst/>
            <a:ahLst/>
            <a:cxnLst/>
            <a:rect r="r" b="b" t="t" l="l"/>
            <a:pathLst>
              <a:path h="5908317" w="8068257">
                <a:moveTo>
                  <a:pt x="0" y="0"/>
                </a:moveTo>
                <a:lnTo>
                  <a:pt x="8068257" y="0"/>
                </a:lnTo>
                <a:lnTo>
                  <a:pt x="8068257" y="5908318"/>
                </a:lnTo>
                <a:lnTo>
                  <a:pt x="0" y="59083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8068257" y="5488279"/>
            <a:ext cx="9517030" cy="4798721"/>
          </a:xfrm>
          <a:custGeom>
            <a:avLst/>
            <a:gdLst/>
            <a:ahLst/>
            <a:cxnLst/>
            <a:rect r="r" b="b" t="t" l="l"/>
            <a:pathLst>
              <a:path h="4798721" w="9517030">
                <a:moveTo>
                  <a:pt x="0" y="0"/>
                </a:moveTo>
                <a:lnTo>
                  <a:pt x="9517030" y="0"/>
                </a:lnTo>
                <a:lnTo>
                  <a:pt x="9517030" y="4798721"/>
                </a:lnTo>
                <a:lnTo>
                  <a:pt x="0" y="479872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577" t="0" r="-5340" b="-9078"/>
            </a:stretch>
          </a:blipFill>
        </p:spPr>
      </p:sp>
      <p:sp>
        <p:nvSpPr>
          <p:cNvPr name="TextBox 28" id="28"/>
          <p:cNvSpPr txBox="true"/>
          <p:nvPr/>
        </p:nvSpPr>
        <p:spPr>
          <a:xfrm rot="0">
            <a:off x="6665436" y="527661"/>
            <a:ext cx="7273884" cy="26295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50946" indent="-275473" lvl="1">
              <a:lnSpc>
                <a:spcPts val="3572"/>
              </a:lnSpc>
              <a:buFont typeface="Arial"/>
              <a:buChar char="•"/>
            </a:pPr>
            <a:r>
              <a:rPr lang="en-US" sz="2551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View patient details</a:t>
            </a:r>
          </a:p>
          <a:p>
            <a:pPr algn="just" marL="550946" indent="-275473" lvl="1">
              <a:lnSpc>
                <a:spcPts val="3572"/>
              </a:lnSpc>
              <a:buFont typeface="Arial"/>
              <a:buChar char="•"/>
            </a:pPr>
            <a:r>
              <a:rPr lang="en-US" sz="2551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Review symptoms &amp; disease prediction</a:t>
            </a:r>
          </a:p>
          <a:p>
            <a:pPr algn="just" marL="550946" indent="-275473" lvl="1">
              <a:lnSpc>
                <a:spcPts val="3572"/>
              </a:lnSpc>
              <a:buFont typeface="Arial"/>
              <a:buChar char="•"/>
            </a:pPr>
            <a:r>
              <a:rPr lang="en-US" sz="2551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Provide treatment recommendations</a:t>
            </a:r>
          </a:p>
          <a:p>
            <a:pPr algn="just" marL="550946" indent="-275473" lvl="1">
              <a:lnSpc>
                <a:spcPts val="3572"/>
              </a:lnSpc>
              <a:buFont typeface="Arial"/>
              <a:buChar char="•"/>
            </a:pPr>
            <a:r>
              <a:rPr lang="en-US" sz="2551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Manage appointments</a:t>
            </a:r>
          </a:p>
          <a:p>
            <a:pPr algn="just" marL="550946" indent="-275473" lvl="1">
              <a:lnSpc>
                <a:spcPts val="3572"/>
              </a:lnSpc>
              <a:buFont typeface="Arial"/>
              <a:buChar char="•"/>
            </a:pPr>
            <a:r>
              <a:rPr lang="en-US" sz="2551">
                <a:solidFill>
                  <a:srgbClr val="254E9D"/>
                </a:solidFill>
                <a:latin typeface="Hero"/>
                <a:ea typeface="Hero"/>
                <a:cs typeface="Hero"/>
                <a:sym typeface="Hero"/>
              </a:rPr>
              <a:t>Monitor patient health reports</a:t>
            </a:r>
          </a:p>
          <a:p>
            <a:pPr algn="just">
              <a:lnSpc>
                <a:spcPts val="2977"/>
              </a:lnSpc>
            </a:pPr>
          </a:p>
        </p:txBody>
      </p:sp>
      <p:sp>
        <p:nvSpPr>
          <p:cNvPr name="TextBox 29" id="29"/>
          <p:cNvSpPr txBox="true"/>
          <p:nvPr/>
        </p:nvSpPr>
        <p:spPr>
          <a:xfrm rot="0">
            <a:off x="981397" y="-630134"/>
            <a:ext cx="5971615" cy="2635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00"/>
              </a:lnSpc>
            </a:pPr>
          </a:p>
          <a:p>
            <a:pPr algn="l">
              <a:lnSpc>
                <a:spcPts val="7000"/>
              </a:lnSpc>
            </a:pPr>
            <a:r>
              <a:rPr lang="en-US" sz="5000" b="true">
                <a:solidFill>
                  <a:srgbClr val="254E9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Doctor Dashboard</a:t>
            </a:r>
          </a:p>
          <a:p>
            <a:pPr algn="l">
              <a:lnSpc>
                <a:spcPts val="7000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13176604" y="8954812"/>
            <a:ext cx="4607100" cy="4144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06"/>
              </a:lnSpc>
            </a:pPr>
            <a:r>
              <a:rPr lang="en-US" sz="2433">
                <a:solidFill>
                  <a:srgbClr val="FFFFFF"/>
                </a:solidFill>
                <a:latin typeface="Hero Bold"/>
                <a:ea typeface="Hero Bold"/>
                <a:cs typeface="Hero Bold"/>
                <a:sym typeface="Hero Bold"/>
              </a:rPr>
              <a:t>www.reallygreatsite.com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54E9D">
                <a:alpha val="100000"/>
              </a:srgbClr>
            </a:gs>
            <a:gs pos="100000">
              <a:srgbClr val="1231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4148340" y="5143500"/>
            <a:ext cx="4442803" cy="5143500"/>
          </a:xfrm>
          <a:custGeom>
            <a:avLst/>
            <a:gdLst/>
            <a:ahLst/>
            <a:cxnLst/>
            <a:rect r="r" b="b" t="t" l="l"/>
            <a:pathLst>
              <a:path h="5143500" w="4442803">
                <a:moveTo>
                  <a:pt x="0" y="0"/>
                </a:moveTo>
                <a:lnTo>
                  <a:pt x="4442802" y="0"/>
                </a:lnTo>
                <a:lnTo>
                  <a:pt x="4442802" y="5143500"/>
                </a:lnTo>
                <a:lnTo>
                  <a:pt x="0" y="51435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79136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0" y="0"/>
            <a:ext cx="14148340" cy="7808768"/>
          </a:xfrm>
          <a:custGeom>
            <a:avLst/>
            <a:gdLst/>
            <a:ahLst/>
            <a:cxnLst/>
            <a:rect r="r" b="b" t="t" l="l"/>
            <a:pathLst>
              <a:path h="7808768" w="14148340">
                <a:moveTo>
                  <a:pt x="0" y="0"/>
                </a:moveTo>
                <a:lnTo>
                  <a:pt x="14148340" y="0"/>
                </a:lnTo>
                <a:lnTo>
                  <a:pt x="14148340" y="7808768"/>
                </a:lnTo>
                <a:lnTo>
                  <a:pt x="0" y="780876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5125" r="-26113" b="-5125"/>
            </a:stretch>
          </a:blipFill>
        </p:spPr>
      </p:sp>
    </p:spTree>
  </p:cSld>
  <p:clrMapOvr>
    <a:masterClrMapping/>
  </p:clrMapOvr>
  <p:transition spd="slow">
    <p:push dir="u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54E9D">
                <a:alpha val="100000"/>
              </a:srgbClr>
            </a:gs>
            <a:gs pos="100000">
              <a:srgbClr val="1231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34872" y="2137941"/>
            <a:ext cx="10190951" cy="7334452"/>
          </a:xfrm>
          <a:custGeom>
            <a:avLst/>
            <a:gdLst/>
            <a:ahLst/>
            <a:cxnLst/>
            <a:rect r="r" b="b" t="t" l="l"/>
            <a:pathLst>
              <a:path h="7334452" w="10190951">
                <a:moveTo>
                  <a:pt x="0" y="0"/>
                </a:moveTo>
                <a:lnTo>
                  <a:pt x="10190950" y="0"/>
                </a:lnTo>
                <a:lnTo>
                  <a:pt x="10190950" y="7334452"/>
                </a:lnTo>
                <a:lnTo>
                  <a:pt x="0" y="73344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261" t="-7574" r="0" b="-57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590924" y="165417"/>
            <a:ext cx="6277829" cy="5395459"/>
          </a:xfrm>
          <a:custGeom>
            <a:avLst/>
            <a:gdLst/>
            <a:ahLst/>
            <a:cxnLst/>
            <a:rect r="r" b="b" t="t" l="l"/>
            <a:pathLst>
              <a:path h="5395459" w="6277829">
                <a:moveTo>
                  <a:pt x="0" y="0"/>
                </a:moveTo>
                <a:lnTo>
                  <a:pt x="6277829" y="0"/>
                </a:lnTo>
                <a:lnTo>
                  <a:pt x="6277829" y="5395458"/>
                </a:lnTo>
                <a:lnTo>
                  <a:pt x="0" y="539545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77895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342251" y="4498598"/>
            <a:ext cx="4718911" cy="5621032"/>
          </a:xfrm>
          <a:custGeom>
            <a:avLst/>
            <a:gdLst/>
            <a:ahLst/>
            <a:cxnLst/>
            <a:rect r="r" b="b" t="t" l="l"/>
            <a:pathLst>
              <a:path h="5621032" w="4718911">
                <a:moveTo>
                  <a:pt x="0" y="0"/>
                </a:moveTo>
                <a:lnTo>
                  <a:pt x="4718911" y="0"/>
                </a:lnTo>
                <a:lnTo>
                  <a:pt x="4718911" y="5621032"/>
                </a:lnTo>
                <a:lnTo>
                  <a:pt x="0" y="562103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5345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-157042" y="372973"/>
            <a:ext cx="9301042" cy="1245086"/>
            <a:chOff x="0" y="0"/>
            <a:chExt cx="2449657" cy="327924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449657" cy="327924"/>
            </a:xfrm>
            <a:custGeom>
              <a:avLst/>
              <a:gdLst/>
              <a:ahLst/>
              <a:cxnLst/>
              <a:rect r="r" b="b" t="t" l="l"/>
              <a:pathLst>
                <a:path h="327924" w="2449657">
                  <a:moveTo>
                    <a:pt x="1224829" y="0"/>
                  </a:moveTo>
                  <a:cubicBezTo>
                    <a:pt x="548374" y="0"/>
                    <a:pt x="0" y="73408"/>
                    <a:pt x="0" y="163962"/>
                  </a:cubicBezTo>
                  <a:cubicBezTo>
                    <a:pt x="0" y="254516"/>
                    <a:pt x="548374" y="327924"/>
                    <a:pt x="1224829" y="327924"/>
                  </a:cubicBezTo>
                  <a:cubicBezTo>
                    <a:pt x="1901283" y="327924"/>
                    <a:pt x="2449657" y="254516"/>
                    <a:pt x="2449657" y="163962"/>
                  </a:cubicBezTo>
                  <a:cubicBezTo>
                    <a:pt x="2449657" y="73408"/>
                    <a:pt x="1901283" y="0"/>
                    <a:pt x="122482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229655" y="-45457"/>
              <a:ext cx="1990347" cy="34263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5739"/>
                </a:lnSpc>
              </a:pPr>
              <a:r>
                <a:rPr lang="en-US" sz="40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pr</a:t>
              </a:r>
              <a:r>
                <a:rPr lang="en-US" b="true" sz="4099">
                  <a:solidFill>
                    <a:srgbClr val="0000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provider dashboard</a:t>
              </a:r>
              <a:r>
                <a:rPr lang="en-US" b="true" sz="40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ovir</a:t>
              </a:r>
              <a:r>
                <a:rPr lang="en-US" sz="4099">
                  <a:solidFill>
                    <a:srgbClr val="FFFFFF"/>
                  </a:solidFill>
                  <a:latin typeface="Canva Sans"/>
                  <a:ea typeface="Canva Sans"/>
                  <a:cs typeface="Canva Sans"/>
                  <a:sym typeface="Canva Sans"/>
                </a:rPr>
                <a:t>o</a:t>
              </a: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254E9D">
                <a:alpha val="100000"/>
              </a:srgbClr>
            </a:gs>
            <a:gs pos="100000">
              <a:srgbClr val="12316D">
                <a:alpha val="100000"/>
              </a:srgbClr>
            </a:gs>
          </a:gsLst>
          <a:lin ang="54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6051" y="1747374"/>
            <a:ext cx="16973249" cy="8539626"/>
          </a:xfrm>
          <a:custGeom>
            <a:avLst/>
            <a:gdLst/>
            <a:ahLst/>
            <a:cxnLst/>
            <a:rect r="r" b="b" t="t" l="l"/>
            <a:pathLst>
              <a:path h="8539626" w="16973249">
                <a:moveTo>
                  <a:pt x="0" y="0"/>
                </a:moveTo>
                <a:lnTo>
                  <a:pt x="16973249" y="0"/>
                </a:lnTo>
                <a:lnTo>
                  <a:pt x="16973249" y="8539626"/>
                </a:lnTo>
                <a:lnTo>
                  <a:pt x="0" y="853962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123" r="-2076" b="-5786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211380" y="34896"/>
            <a:ext cx="6586835" cy="1712478"/>
            <a:chOff x="0" y="0"/>
            <a:chExt cx="8782446" cy="22833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8782446" cy="2181705"/>
            </a:xfrm>
            <a:custGeom>
              <a:avLst/>
              <a:gdLst/>
              <a:ahLst/>
              <a:cxnLst/>
              <a:rect r="r" b="b" t="t" l="l"/>
              <a:pathLst>
                <a:path h="2181705" w="8782446">
                  <a:moveTo>
                    <a:pt x="0" y="0"/>
                  </a:moveTo>
                  <a:lnTo>
                    <a:pt x="8782446" y="0"/>
                  </a:lnTo>
                  <a:lnTo>
                    <a:pt x="8782446" y="2181705"/>
                  </a:lnTo>
                  <a:lnTo>
                    <a:pt x="0" y="2181705"/>
                  </a:lnTo>
                  <a:close/>
                </a:path>
              </a:pathLst>
            </a:custGeom>
            <a:solidFill>
              <a:srgbClr val="FCFDFD"/>
            </a:solidFill>
          </p:spPr>
        </p:sp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782446" cy="2283305"/>
            </a:xfrm>
            <a:custGeom>
              <a:avLst/>
              <a:gdLst/>
              <a:ahLst/>
              <a:cxnLst/>
              <a:rect r="r" b="b" t="t" l="l"/>
              <a:pathLst>
                <a:path h="2283305" w="8782446">
                  <a:moveTo>
                    <a:pt x="0" y="2181705"/>
                  </a:moveTo>
                  <a:lnTo>
                    <a:pt x="8782446" y="2181705"/>
                  </a:lnTo>
                  <a:lnTo>
                    <a:pt x="8655446" y="2283305"/>
                  </a:lnTo>
                  <a:cubicBezTo>
                    <a:pt x="8655446" y="2283305"/>
                    <a:pt x="7664846" y="2207105"/>
                    <a:pt x="7563246" y="2207105"/>
                  </a:cubicBezTo>
                  <a:lnTo>
                    <a:pt x="1219200" y="2207105"/>
                  </a:lnTo>
                  <a:cubicBezTo>
                    <a:pt x="1117600" y="2207105"/>
                    <a:pt x="127000" y="2283305"/>
                    <a:pt x="127000" y="2283305"/>
                  </a:cubicBezTo>
                  <a:lnTo>
                    <a:pt x="0" y="2181705"/>
                  </a:lnTo>
                  <a:lnTo>
                    <a:pt x="0" y="0"/>
                  </a:lnTo>
                  <a:lnTo>
                    <a:pt x="8782446" y="0"/>
                  </a:lnTo>
                  <a:lnTo>
                    <a:pt x="8782446" y="2181705"/>
                  </a:lnTo>
                  <a:lnTo>
                    <a:pt x="12700" y="2181705"/>
                  </a:lnTo>
                  <a:lnTo>
                    <a:pt x="12700" y="2169005"/>
                  </a:lnTo>
                  <a:lnTo>
                    <a:pt x="8769746" y="2169005"/>
                  </a:lnTo>
                  <a:lnTo>
                    <a:pt x="8769746" y="12700"/>
                  </a:lnTo>
                  <a:lnTo>
                    <a:pt x="12700" y="12700"/>
                  </a:lnTo>
                  <a:lnTo>
                    <a:pt x="12700" y="2181705"/>
                  </a:lnTo>
                </a:path>
              </a:pathLst>
            </a:custGeom>
            <a:solidFill>
              <a:srgbClr val="394C60">
                <a:alpha val="784"/>
              </a:srgbClr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104775"/>
              <a:ext cx="8782446" cy="1829280"/>
            </a:xfrm>
            <a:prstGeom prst="rect">
              <a:avLst/>
            </a:prstGeom>
          </p:spPr>
          <p:txBody>
            <a:bodyPr anchor="t" rtlCol="false" tIns="203200" lIns="203200" bIns="203200" rIns="203200"/>
            <a:lstStyle/>
            <a:p>
              <a:pPr algn="l">
                <a:lnSpc>
                  <a:spcPts val="7000"/>
                </a:lnSpc>
              </a:pPr>
              <a:r>
                <a:rPr lang="en-US" sz="5000" b="true">
                  <a:solidFill>
                    <a:srgbClr val="0F1729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Mysql working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DAHQ2frisds</dc:identifier>
  <dcterms:modified xsi:type="dcterms:W3CDTF">2011-08-01T06:04:30Z</dcterms:modified>
  <cp:revision>1</cp:revision>
  <dc:title>MedAssist AI: Medical Symptom Analysis &amp; Disease Prediction Syste</dc:title>
</cp:coreProperties>
</file>